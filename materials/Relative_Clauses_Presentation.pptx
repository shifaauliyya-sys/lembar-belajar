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108960" cy="31089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_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9829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SERIES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Clauses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20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Lengkap: Pengertian, Jenis, Aturan, dan Latihan Menulis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4251960"/>
            <a:ext cx="1828800" cy="0"/>
          </a:xfrm>
          <a:prstGeom prst="line">
            <a:avLst/>
          </a:prstGeom>
          <a:noFill/>
          <a:ln w="38100">
            <a:solidFill>
              <a:srgbClr val="F4A25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4709160"/>
            <a:ext cx="2048256" cy="457200"/>
          </a:xfrm>
          <a:prstGeom prst="roundRect">
            <a:avLst>
              <a:gd name="adj" fmla="val 50000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70916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/ Whom / Whose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099816" y="4709160"/>
            <a:ext cx="1472184" cy="457200"/>
          </a:xfrm>
          <a:prstGeom prst="roundRect">
            <a:avLst>
              <a:gd name="adj" fmla="val 50000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99816" y="4709160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/ That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800600" y="4709160"/>
            <a:ext cx="2048256" cy="457200"/>
          </a:xfrm>
          <a:prstGeom prst="roundRect">
            <a:avLst>
              <a:gd name="adj" fmla="val 50000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00600" y="470916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/ Where / Why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Relative Clause?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clause 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adalah anak kalimat yang memberikan informasi tambahan tentang sebuah noun (kata benda), sehingga dua kalimat bisa digabung menjadi satu tanpa mengulang subjeknya.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_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237" y="3359277"/>
            <a:ext cx="276606" cy="2766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32461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Dihubungkan dengan relative pronoun (who, which, that, dsb.) atau relative adverb (when, where, why).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09360" y="16002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B2733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6751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PENGGABUNGAN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75120" y="2377440"/>
            <a:ext cx="4480560" cy="685800"/>
          </a:xfrm>
          <a:prstGeom prst="roundRect">
            <a:avLst>
              <a:gd name="adj" fmla="val 10667"/>
            </a:avLst>
          </a:prstGeom>
          <a:solidFill>
            <a:srgbClr val="EDF3F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03720" y="23774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 friend. </a:t>
            </a:r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lives in Bandung.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641080" y="3081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A259"/>
                </a:solidFill>
              </a:rPr>
              <a:t>↓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675120" y="361188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903720" y="3611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 friend </a:t>
            </a:r>
            <a:pPr indent="0" marL="0">
              <a:buNone/>
            </a:pPr>
            <a:r>
              <a:rPr lang="en-US" sz="15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lives in Bandung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675120" y="4800600"/>
            <a:ext cx="4480560" cy="0"/>
          </a:xfrm>
          <a:prstGeom prst="line">
            <a:avLst/>
          </a:prstGeom>
          <a:noFill/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75120" y="50292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menggantikan subjek </a:t>
            </a:r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"he"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sekaligus menyambungkan dua kalimat menjadi satu.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Pronouns &amp; Adverbs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351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_wh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837" y="2033397"/>
            <a:ext cx="276606" cy="2766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92808"/>
            <a:ext cx="14836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240280"/>
            <a:ext cx="14836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— subjek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2077974" cy="0"/>
          </a:xfrm>
          <a:prstGeom prst="line">
            <a:avLst/>
          </a:prstGeom>
          <a:noFill/>
          <a:ln w="12700">
            <a:solidFill>
              <a:srgbClr val="E7EDF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15768"/>
            <a:ext cx="20779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 who called is my uncle.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31286" y="1691640"/>
            <a:ext cx="25351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9886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con_wh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043" y="2033397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299966" y="1892808"/>
            <a:ext cx="14836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whom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299966" y="2240280"/>
            <a:ext cx="14836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— objek (formal)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659886" y="2606040"/>
            <a:ext cx="2077974" cy="0"/>
          </a:xfrm>
          <a:prstGeom prst="line">
            <a:avLst/>
          </a:prstGeom>
          <a:noFill/>
          <a:ln w="12700">
            <a:solidFill>
              <a:srgbClr val="E7EDF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659886" y="2715768"/>
            <a:ext cx="20779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 whom you met is kind.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22492" y="1691640"/>
            <a:ext cx="25351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51092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2" descr="icon_who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249" y="2033397"/>
            <a:ext cx="276606" cy="27660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091172" y="1892808"/>
            <a:ext cx="14836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whose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7091172" y="2240280"/>
            <a:ext cx="14836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kepemilikan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451092" y="2606040"/>
            <a:ext cx="2077974" cy="0"/>
          </a:xfrm>
          <a:prstGeom prst="line">
            <a:avLst/>
          </a:prstGeom>
          <a:noFill/>
          <a:ln w="12700">
            <a:solidFill>
              <a:srgbClr val="E7EDF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451092" y="2715768"/>
            <a:ext cx="20779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girl whose bag is red.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013698" y="1691640"/>
            <a:ext cx="25351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42298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3" descr="icon_whi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455" y="2033397"/>
            <a:ext cx="276606" cy="27660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882378" y="1892808"/>
            <a:ext cx="14836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9882378" y="2240280"/>
            <a:ext cx="14836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benda / hewan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242298" y="2606040"/>
            <a:ext cx="2077974" cy="0"/>
          </a:xfrm>
          <a:prstGeom prst="line">
            <a:avLst/>
          </a:prstGeom>
          <a:noFill/>
          <a:ln w="12700">
            <a:solidFill>
              <a:srgbClr val="E7EDF1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9242298" y="2715768"/>
            <a:ext cx="20779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which is new.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40080" y="4096512"/>
            <a:ext cx="25351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68680" y="43251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4" name="Image 4" descr="icon_th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837" y="4438269"/>
            <a:ext cx="276606" cy="276606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508760" y="4297680"/>
            <a:ext cx="14836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</a:t>
            </a:r>
            <a:endParaRPr lang="en-US" sz="1700" dirty="0"/>
          </a:p>
        </p:txBody>
      </p:sp>
      <p:sp>
        <p:nvSpPr>
          <p:cNvPr id="36" name="Text 29"/>
          <p:cNvSpPr txBox="1"/>
          <p:nvPr/>
        </p:nvSpPr>
        <p:spPr>
          <a:xfrm>
            <a:off x="1508760" y="4645152"/>
            <a:ext cx="14836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orang/benda (informal)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868680" y="5010912"/>
            <a:ext cx="2077974" cy="0"/>
          </a:xfrm>
          <a:prstGeom prst="line">
            <a:avLst/>
          </a:prstGeom>
          <a:noFill/>
          <a:ln w="12700">
            <a:solidFill>
              <a:srgbClr val="E7EDF1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868680" y="5120640"/>
            <a:ext cx="20779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 that I bought.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3431286" y="4096512"/>
            <a:ext cx="25351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659886" y="43251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5" descr="icon_wh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3043" y="4438269"/>
            <a:ext cx="276606" cy="276606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4299966" y="4297680"/>
            <a:ext cx="14836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</a:t>
            </a:r>
            <a:endParaRPr lang="en-US" sz="1700" dirty="0"/>
          </a:p>
        </p:txBody>
      </p:sp>
      <p:sp>
        <p:nvSpPr>
          <p:cNvPr id="43" name="Text 35"/>
          <p:cNvSpPr txBox="1"/>
          <p:nvPr/>
        </p:nvSpPr>
        <p:spPr>
          <a:xfrm>
            <a:off x="4299966" y="4645152"/>
            <a:ext cx="14836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3659886" y="5010912"/>
            <a:ext cx="2077974" cy="0"/>
          </a:xfrm>
          <a:prstGeom prst="line">
            <a:avLst/>
          </a:prstGeom>
          <a:noFill/>
          <a:ln w="12700">
            <a:solidFill>
              <a:srgbClr val="E7EDF1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3659886" y="5120640"/>
            <a:ext cx="20779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when we met.</a:t>
            </a:r>
            <a:endParaRPr lang="en-US" sz="1050" dirty="0"/>
          </a:p>
        </p:txBody>
      </p:sp>
      <p:sp>
        <p:nvSpPr>
          <p:cNvPr id="46" name="Shape 38"/>
          <p:cNvSpPr/>
          <p:nvPr/>
        </p:nvSpPr>
        <p:spPr>
          <a:xfrm>
            <a:off x="6222492" y="4096512"/>
            <a:ext cx="25351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451092" y="43251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8" name="Image 6" descr="icon_whe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4249" y="4438269"/>
            <a:ext cx="276606" cy="276606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7091172" y="4297680"/>
            <a:ext cx="14836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700" dirty="0"/>
          </a:p>
        </p:txBody>
      </p:sp>
      <p:sp>
        <p:nvSpPr>
          <p:cNvPr id="50" name="Text 41"/>
          <p:cNvSpPr txBox="1"/>
          <p:nvPr/>
        </p:nvSpPr>
        <p:spPr>
          <a:xfrm>
            <a:off x="7091172" y="4645152"/>
            <a:ext cx="14836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</a:t>
            </a:r>
            <a:endParaRPr lang="en-US" sz="1050" dirty="0"/>
          </a:p>
        </p:txBody>
      </p:sp>
      <p:sp>
        <p:nvSpPr>
          <p:cNvPr id="51" name="Shape 42"/>
          <p:cNvSpPr/>
          <p:nvPr/>
        </p:nvSpPr>
        <p:spPr>
          <a:xfrm>
            <a:off x="6451092" y="5010912"/>
            <a:ext cx="2077974" cy="0"/>
          </a:xfrm>
          <a:prstGeom prst="line">
            <a:avLst/>
          </a:prstGeom>
          <a:noFill/>
          <a:ln w="12700">
            <a:solidFill>
              <a:srgbClr val="E7EDF1"/>
            </a:solidFill>
            <a:prstDash val="solid"/>
          </a:ln>
        </p:spPr>
      </p:sp>
      <p:sp>
        <p:nvSpPr>
          <p:cNvPr id="52" name="Text 43"/>
          <p:cNvSpPr txBox="1"/>
          <p:nvPr/>
        </p:nvSpPr>
        <p:spPr>
          <a:xfrm>
            <a:off x="6451092" y="5120640"/>
            <a:ext cx="20779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house where I grew up.</a:t>
            </a:r>
            <a:endParaRPr lang="en-US" sz="1050" dirty="0"/>
          </a:p>
        </p:txBody>
      </p:sp>
      <p:sp>
        <p:nvSpPr>
          <p:cNvPr id="53" name="Shape 44"/>
          <p:cNvSpPr/>
          <p:nvPr/>
        </p:nvSpPr>
        <p:spPr>
          <a:xfrm>
            <a:off x="9013698" y="4096512"/>
            <a:ext cx="25351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9242298" y="43251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5" name="Image 7" descr="icon_wh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5455" y="4438269"/>
            <a:ext cx="276606" cy="276606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9882378" y="4297680"/>
            <a:ext cx="14836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700" dirty="0"/>
          </a:p>
        </p:txBody>
      </p:sp>
      <p:sp>
        <p:nvSpPr>
          <p:cNvPr id="57" name="Text 47"/>
          <p:cNvSpPr txBox="1"/>
          <p:nvPr/>
        </p:nvSpPr>
        <p:spPr>
          <a:xfrm>
            <a:off x="9882378" y="4645152"/>
            <a:ext cx="14836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</a:t>
            </a:r>
            <a:endParaRPr lang="en-US" sz="1050" dirty="0"/>
          </a:p>
        </p:txBody>
      </p:sp>
      <p:sp>
        <p:nvSpPr>
          <p:cNvPr id="58" name="Shape 48"/>
          <p:cNvSpPr/>
          <p:nvPr/>
        </p:nvSpPr>
        <p:spPr>
          <a:xfrm>
            <a:off x="9242298" y="5010912"/>
            <a:ext cx="2077974" cy="0"/>
          </a:xfrm>
          <a:prstGeom prst="line">
            <a:avLst/>
          </a:prstGeom>
          <a:noFill/>
          <a:ln w="12700">
            <a:solidFill>
              <a:srgbClr val="E7EDF1"/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9242298" y="5120640"/>
            <a:ext cx="20779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why she left.</a:t>
            </a:r>
            <a:endParaRPr lang="en-US" sz="1050" dirty="0"/>
          </a:p>
        </p:txBody>
      </p:sp>
      <p:sp>
        <p:nvSpPr>
          <p:cNvPr id="60" name="Text 5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vs Non-Defining Clause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73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48840"/>
            <a:ext cx="52578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175564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Clause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1488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 WAJIB / penting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281635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07008" y="267004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memakai koma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327355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312724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Boleh menggunakan "that"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20" y="373075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358444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dihapus, makna kalimat berubah / jadi tidak jelas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4206240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EDF3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431596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students who study hard will pass the exam.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82803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hanya siswa tertentu yang dimaksud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64592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733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645920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2148840"/>
            <a:ext cx="52578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175564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Non-Defining Clause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21488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 TAMBAHAN / ekstra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281635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84848" y="267004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memakai koma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37960" y="327355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84848" y="312724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BOLEH menggunakan "that"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37960" y="373075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84848" y="358444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dihapus, makna kalimat tetap jelas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37960" y="4206240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EDF3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20840" y="431596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brother, who lives in Jakarta, is a doctor.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482803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berlaku untuk semua saudara (hanya ada satu)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Omission &amp; Reduced Relative Clause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73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_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659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Menghilangkan Relative Pronoun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6974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Boleh dihilangkan jika berfungsi sebagai OBJEK dalam defining clause: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3200400"/>
            <a:ext cx="4617720" cy="685800"/>
          </a:xfrm>
          <a:prstGeom prst="roundRect">
            <a:avLst>
              <a:gd name="adj" fmla="val 10667"/>
            </a:avLst>
          </a:prstGeom>
          <a:solidFill>
            <a:srgbClr val="E7F5E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43000" y="32004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(that/which) I read was great.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40233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boleh dihilangkan jika berfungsi sebagai SUBJEK: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0120" y="4434840"/>
            <a:ext cx="4617720" cy="685800"/>
          </a:xfrm>
          <a:prstGeom prst="roundRect">
            <a:avLst>
              <a:gd name="adj" fmla="val 10667"/>
            </a:avLst>
          </a:prstGeom>
          <a:solidFill>
            <a:srgbClr val="FBE9E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43000" y="443484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strike="sngStrike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 called you is my uncle.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4782312"/>
            <a:ext cx="4251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 who called you is my uncle.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17920" y="169164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733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icon_compr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0312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223760" y="19659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Relative Clause</a:t>
            </a:r>
            <a:endParaRPr lang="en-US" sz="1650" dirty="0"/>
          </a:p>
        </p:txBody>
      </p:sp>
      <p:sp>
        <p:nvSpPr>
          <p:cNvPr id="19" name="Text 15"/>
          <p:cNvSpPr txBox="1"/>
          <p:nvPr/>
        </p:nvSpPr>
        <p:spPr>
          <a:xfrm>
            <a:off x="6537960" y="26974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→ gunakan V-ing (subjek melakukan aksi):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537960" y="3108960"/>
            <a:ext cx="4617720" cy="868680"/>
          </a:xfrm>
          <a:prstGeom prst="roundRect">
            <a:avLst>
              <a:gd name="adj" fmla="val 8421"/>
            </a:avLst>
          </a:prstGeom>
          <a:solidFill>
            <a:srgbClr val="EDF3F7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720840" y="310896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 who is standing </a:t>
            </a:r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 standing near the door.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6537960" y="41605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Pasif → gunakan V3 (subjek dikenai aksi):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537960" y="4572000"/>
            <a:ext cx="4617720" cy="868680"/>
          </a:xfrm>
          <a:prstGeom prst="roundRect">
            <a:avLst>
              <a:gd name="adj" fmla="val 8421"/>
            </a:avLst>
          </a:prstGeom>
          <a:solidFill>
            <a:srgbClr val="EDF3F7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720840" y="457200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letter which was written by John </a:t>
            </a:r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letter written by John.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Kesalahan Umum yang Sering Terjadi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9437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strike="sngStrike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 who he called me is my father.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 who called me is my father.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2944368"/>
            <a:ext cx="4745736" cy="0"/>
          </a:xfrm>
          <a:prstGeom prst="line">
            <a:avLst/>
          </a:prstGeom>
          <a:noFill/>
          <a:ln w="12700">
            <a:solidFill>
              <a:srgbClr val="E7ED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035808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ulangi subjek ("he") setelah relative pronoun.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54496" y="1645920"/>
            <a:ext cx="529437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28816" y="182880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strike="sngStrike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book that I bought it.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28816" y="237744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book that I bought.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28816" y="2944368"/>
            <a:ext cx="4745736" cy="0"/>
          </a:xfrm>
          <a:prstGeom prst="line">
            <a:avLst/>
          </a:prstGeom>
          <a:noFill/>
          <a:ln w="12700">
            <a:solidFill>
              <a:srgbClr val="E7ED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28816" y="3035808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ulangi objek ("it") setelah relative pronoun.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29437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11480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strike="sngStrike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brother, that works here, is kind.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66344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brother, who works here, is kind.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5230368"/>
            <a:ext cx="4745736" cy="0"/>
          </a:xfrm>
          <a:prstGeom prst="line">
            <a:avLst/>
          </a:prstGeom>
          <a:noFill/>
          <a:ln w="12700">
            <a:solidFill>
              <a:srgbClr val="E7ED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5321808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"that" tidak dipakai setelah koma (non-defining).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54496" y="3931920"/>
            <a:ext cx="529437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28816" y="411480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strike="sngStrike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met a girl her name is Sarah.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28816" y="466344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met a girl whose name is Sarah.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28816" y="5230368"/>
            <a:ext cx="4745736" cy="0"/>
          </a:xfrm>
          <a:prstGeom prst="line">
            <a:avLst/>
          </a:prstGeom>
          <a:noFill/>
          <a:ln w="12700">
            <a:solidFill>
              <a:srgbClr val="E7EDF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28816" y="5321808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"whose" untuk menunjukkan kepemilikan.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5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Cepat (Cheat Sheet)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17236" cy="713232"/>
          </a:xfrm>
          <a:prstGeom prst="roundRect">
            <a:avLst>
              <a:gd name="adj" fmla="val 11538"/>
            </a:avLst>
          </a:prstGeom>
          <a:solidFill>
            <a:srgbClr val="065A82">
              <a:alpha val="65000"/>
            </a:srgbClr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9164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1691640"/>
            <a:ext cx="32141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(subjek)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91640"/>
            <a:ext cx="5317236" cy="713232"/>
          </a:xfrm>
          <a:prstGeom prst="roundRect">
            <a:avLst>
              <a:gd name="adj" fmla="val 11538"/>
            </a:avLst>
          </a:prstGeom>
          <a:solidFill>
            <a:srgbClr val="065A82">
              <a:alpha val="65000"/>
            </a:srgbClr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05956" y="169164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whom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060436" y="1691640"/>
            <a:ext cx="32141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(objek, formal)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569464"/>
            <a:ext cx="5317236" cy="713232"/>
          </a:xfrm>
          <a:prstGeom prst="roundRect">
            <a:avLst>
              <a:gd name="adj" fmla="val 11538"/>
            </a:avLst>
          </a:prstGeom>
          <a:solidFill>
            <a:srgbClr val="065A82">
              <a:alpha val="65000"/>
            </a:srgbClr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569464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whose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2569464"/>
            <a:ext cx="32141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kepemilikan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1636" y="2569464"/>
            <a:ext cx="5317236" cy="713232"/>
          </a:xfrm>
          <a:prstGeom prst="roundRect">
            <a:avLst>
              <a:gd name="adj" fmla="val 11538"/>
            </a:avLst>
          </a:prstGeom>
          <a:solidFill>
            <a:srgbClr val="065A82">
              <a:alpha val="65000"/>
            </a:srgbClr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05956" y="2569464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060436" y="2569464"/>
            <a:ext cx="32141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447288"/>
            <a:ext cx="5317236" cy="713232"/>
          </a:xfrm>
          <a:prstGeom prst="roundRect">
            <a:avLst>
              <a:gd name="adj" fmla="val 11538"/>
            </a:avLst>
          </a:prstGeom>
          <a:solidFill>
            <a:srgbClr val="065A82">
              <a:alpha val="65000"/>
            </a:srgbClr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44728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3447288"/>
            <a:ext cx="32141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orang/benda (informal)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31636" y="3447288"/>
            <a:ext cx="5317236" cy="713232"/>
          </a:xfrm>
          <a:prstGeom prst="roundRect">
            <a:avLst>
              <a:gd name="adj" fmla="val 11538"/>
            </a:avLst>
          </a:prstGeom>
          <a:solidFill>
            <a:srgbClr val="065A82">
              <a:alpha val="65000"/>
            </a:srgbClr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05956" y="344728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060436" y="3447288"/>
            <a:ext cx="32141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325112"/>
            <a:ext cx="5317236" cy="713232"/>
          </a:xfrm>
          <a:prstGeom prst="roundRect">
            <a:avLst>
              <a:gd name="adj" fmla="val 11538"/>
            </a:avLst>
          </a:prstGeom>
          <a:solidFill>
            <a:srgbClr val="065A82">
              <a:alpha val="65000"/>
            </a:srgbClr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32511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2468880" y="4325112"/>
            <a:ext cx="32141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31636" y="4325112"/>
            <a:ext cx="5317236" cy="713232"/>
          </a:xfrm>
          <a:prstGeom prst="roundRect">
            <a:avLst>
              <a:gd name="adj" fmla="val 11538"/>
            </a:avLst>
          </a:prstGeom>
          <a:solidFill>
            <a:srgbClr val="065A82">
              <a:alpha val="65000"/>
            </a:srgbClr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05956" y="432511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8060436" y="4325112"/>
            <a:ext cx="32141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Latihan Writing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bagian latihan untuk melatih penggunaan relative clauses dalam tulisan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2904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73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4028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5468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Gabungkan Kalimat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57600"/>
            <a:ext cx="2874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Gabungkan 8 pasang kalimat menjadi satu kalimat menggunakan relative clause yang tepat.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3024" y="1965960"/>
            <a:ext cx="3422904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733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7344" y="224028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57344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57344" y="315468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Lengkapi Kalimat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657344" y="3657600"/>
            <a:ext cx="2874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titik-titik dengan relative pronoun/adverb yang sesuai (who, which, whose, dst).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25968" y="1965960"/>
            <a:ext cx="3422904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733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00288" y="224028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00288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400288" y="315468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Tulis Paragraf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8400288" y="3657600"/>
            <a:ext cx="2874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paragraf 5–7 kalimat tentang tempat favorit dengan minimal 5 relative clauses.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44068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FFF4E6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559552"/>
            <a:ext cx="502920" cy="502920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22" name="Image 0" descr="icon_id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5685282"/>
            <a:ext cx="251460" cy="2514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463040" y="544068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 Bonus: </a:t>
            </a:r>
            <a:pPr indent="0" marL="0">
              <a:buNone/>
            </a:pPr>
            <a:r>
              <a:rPr lang="en-US" sz="13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perbaiki 4 kalimat yang salah — tersedia di dokumen lengkap.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023360" cy="402336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96596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3016" y="22174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324612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Selamat Belajar!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2286000" y="4160520"/>
            <a:ext cx="7616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Semakin sering berlatih menulis, semakin natural penggunaan relative clauses dalam kalimatmu.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180076" y="5029200"/>
            <a:ext cx="1828800" cy="0"/>
          </a:xfrm>
          <a:prstGeom prst="line">
            <a:avLst/>
          </a:prstGeom>
          <a:noFill/>
          <a:ln w="38100">
            <a:solidFill>
              <a:srgbClr val="F4A25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71600" y="525780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· whom · whose · which · that · when · where · why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2026-09-02T00:50:01Z</dcterms:created>
  <dcterms:modified xsi:type="dcterms:W3CDTF">2026-09-02T00:50:01Z</dcterms:modified>
</cp:coreProperties>
</file>
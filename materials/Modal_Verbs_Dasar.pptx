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53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9768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GRAMMAR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Modal Verbs Dasar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Can, Could, May, Might, Must, Should, Will, Would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Bahasa Inggris • Modal Verbs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Apa itu Modal Verbs?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38160" y="457200"/>
            <a:ext cx="3474720" cy="4206240"/>
          </a:xfrm>
          <a:prstGeom prst="roundRect">
            <a:avLst>
              <a:gd name="adj" fmla="val 394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458200" y="8229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 tidak berdiri sendiri — selalu diikuti oleh kata kerja bentuk dasar (V1).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58200" y="24688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</a:t>
            </a: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0" y="3611880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</a:t>
            </a: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</a:t>
            </a: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3716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kerja bantu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170992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 adalah auxiliary verb yang menambahkan makna khusus pada kata kerja utama.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4231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Bentuknya tetap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76148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berubah bentuk untuk subjek apa pun (I, you, he, she, they — tetap sama).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4747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‘to’ &amp; tanpa -s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1304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Diikuti V1 tanpa ‘to’, dan tidak ditambah -s meski subjeknya he/she/it.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Modal Verbs yang Sering Dipakai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37560" y="14173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520440" y="1645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Could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2044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masa lalu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14173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645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Might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9828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kemungkinan kecil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Must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keharusan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37560" y="34747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Should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520440" y="4389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4747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Will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09360" y="4389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depan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15400" y="34747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3703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Would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98280" y="4389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kesopanan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 &amp; Could — Kemampuan (Ability)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Menyatakan kemampuan atau izin di masa sekarang.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play the guitar.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sit here.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6916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Could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lampau dari ‘can’, atau permintaan sopan.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swim when she was 5.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help me?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May &amp; Might — Kemungkinan (Possibility)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Menyatakan izin resmi atau kemungkinan yang cukup besar.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leave now.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rain later.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6916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Might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Menyatakan kemungkinan yang lebih kecil / tidak pasti.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might come to the party.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might be late.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Must &amp; Should — Keharusan &amp; Saran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Keharusan kuat, biasanya dari pembicara sendiri.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must finish my homework.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wear uniform.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6916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Should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atau anjuran, bukan keharusan mutlak.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sleep early.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 recycle more.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Will &amp; Would — Masa Depan &amp; Kesediaan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Will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Menyatakan hal yang akan terjadi di masa depan, atau janji/kesediaan spontan.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be sunny tomorrow.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help you carry that.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F7FAF9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169164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952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Would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7512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lampau dari ‘will’, dipakai untuk permintaan sopan atau pengandaian.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5120" y="361188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4041648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like some tea?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travel if I had time.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Aturan Penting Modal Verbs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1907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Positif (+)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63440" y="1600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modal + V1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1600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 dance.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6F3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4495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4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Kalimat Negatif (–)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 + modal + not + V1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2926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cannot (can't) dance.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37083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708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2173" y="5257800"/>
            <a:ext cx="594529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 </a:t>
            </a:r>
            <a:r>
              <a:rPr lang="en-US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bisa </a:t>
            </a:r>
            <a:r>
              <a:rPr lang="en-US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</a:t>
            </a: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astronaut</a:t>
            </a:r>
          </a:p>
          <a:p>
            <a:pPr marL="0" indent="0">
              <a:buNone/>
            </a:pPr>
            <a:r>
              <a:rPr lang="en-US" sz="1500" dirty="0"/>
              <a:t>I will </a:t>
            </a:r>
            <a:r>
              <a:rPr lang="en-US" sz="1500" dirty="0">
                <a:solidFill>
                  <a:srgbClr val="FF0000"/>
                </a:solidFill>
              </a:rPr>
              <a:t>be able to </a:t>
            </a:r>
            <a:r>
              <a:rPr lang="en-US" sz="1500" dirty="0"/>
              <a:t>be astronaut</a:t>
            </a:r>
          </a:p>
          <a:p>
            <a:pPr marL="0" indent="0">
              <a:buNone/>
            </a:pPr>
            <a:r>
              <a:rPr lang="en-US" sz="1500" b="1" dirty="0"/>
              <a:t>Kamu </a:t>
            </a:r>
            <a:r>
              <a:rPr lang="en-US" sz="1500" b="1" dirty="0" err="1"/>
              <a:t>harus</a:t>
            </a:r>
            <a:r>
              <a:rPr lang="en-US" sz="1500" b="1" dirty="0"/>
              <a:t> bisa </a:t>
            </a:r>
            <a:r>
              <a:rPr lang="en-US" sz="1500" b="1" dirty="0" err="1"/>
              <a:t>berenang</a:t>
            </a:r>
            <a:endParaRPr lang="en-US" sz="1500" b="1" dirty="0"/>
          </a:p>
          <a:p>
            <a:pPr marL="0" indent="0">
              <a:buNone/>
            </a:pPr>
            <a:r>
              <a:rPr lang="en-US" sz="1500" dirty="0"/>
              <a:t>You must </a:t>
            </a:r>
            <a:r>
              <a:rPr lang="en-US" sz="1500" dirty="0">
                <a:solidFill>
                  <a:srgbClr val="FF0000"/>
                </a:solidFill>
              </a:rPr>
              <a:t>be able to </a:t>
            </a:r>
            <a:r>
              <a:rPr lang="en-US" sz="1500" dirty="0"/>
              <a:t>swim</a:t>
            </a:r>
          </a:p>
          <a:p>
            <a:pPr marL="0" indent="0">
              <a:buNone/>
            </a:pPr>
            <a:r>
              <a:rPr lang="en-US" sz="1500" b="1" dirty="0" err="1"/>
              <a:t>Bossku</a:t>
            </a:r>
            <a:r>
              <a:rPr lang="en-US" sz="1500" b="1" dirty="0"/>
              <a:t> </a:t>
            </a:r>
            <a:r>
              <a:rPr lang="en-US" sz="1500" b="1" dirty="0" err="1"/>
              <a:t>harus</a:t>
            </a:r>
            <a:r>
              <a:rPr lang="en-US" sz="1500" b="1" dirty="0"/>
              <a:t> boleh </a:t>
            </a:r>
            <a:r>
              <a:rPr lang="en-US" sz="1500" b="1" dirty="0" err="1"/>
              <a:t>pergi</a:t>
            </a:r>
            <a:r>
              <a:rPr lang="en-US" sz="1500" b="1" dirty="0"/>
              <a:t> ke Bali</a:t>
            </a:r>
          </a:p>
          <a:p>
            <a:pPr marL="0" indent="0">
              <a:buNone/>
            </a:pPr>
            <a:r>
              <a:rPr lang="en-US" sz="1500" dirty="0"/>
              <a:t>My teachers </a:t>
            </a:r>
            <a:r>
              <a:rPr lang="en-US" sz="1500" dirty="0">
                <a:solidFill>
                  <a:srgbClr val="FF0000"/>
                </a:solidFill>
              </a:rPr>
              <a:t>have to </a:t>
            </a:r>
            <a:r>
              <a:rPr lang="en-US" sz="1500" dirty="0"/>
              <a:t>go to Bali</a:t>
            </a:r>
          </a:p>
          <a:p>
            <a:pPr marL="0" indent="0">
              <a:buNone/>
            </a:pPr>
            <a:r>
              <a:rPr lang="en-US" sz="1500" b="1" dirty="0"/>
              <a:t>He may must study</a:t>
            </a:r>
          </a:p>
          <a:p>
            <a:pPr marL="0" indent="0">
              <a:buNone/>
            </a:pPr>
            <a:r>
              <a:rPr lang="en-US" sz="1500" dirty="0"/>
              <a:t>He </a:t>
            </a:r>
            <a:r>
              <a:rPr lang="en-US" sz="1500" dirty="0">
                <a:solidFill>
                  <a:srgbClr val="FF0000"/>
                </a:solidFill>
              </a:rPr>
              <a:t>has to </a:t>
            </a:r>
            <a:r>
              <a:rPr lang="en-US" sz="1500" dirty="0"/>
              <a:t>study</a:t>
            </a:r>
          </a:p>
        </p:txBody>
      </p:sp>
      <p:sp>
        <p:nvSpPr>
          <p:cNvPr id="19" name="Text 17"/>
          <p:cNvSpPr/>
          <p:nvPr/>
        </p:nvSpPr>
        <p:spPr>
          <a:xfrm>
            <a:off x="4663440" y="4251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subjek + V1 + 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8160" y="4251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she dance?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Latihan Singkat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kalimat berikut dengan modal verb yang tepat.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 ____ speak two languages. (kemampuan)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____ finish your homework before dinner. (keharusan)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____ I open the window, please? (izin, sopan)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It ____ rain tomorrow. (kemungkinan kecil)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AF9"/>
          </a:solidFill>
          <a:ln w="12700">
            <a:solidFill>
              <a:srgbClr val="D6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You ____ see a doctor if you feel sick. (saran)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Ingat Ya!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verb selalu diikuti V1, tidak berubah bentuk, dan tidak pakai ‘to’.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594</Words>
  <Application>Microsoft Office PowerPoint</Application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shifasavepicts@gmail.com</cp:lastModifiedBy>
  <cp:revision>2</cp:revision>
  <dcterms:created xsi:type="dcterms:W3CDTF">2026-08-14T01:02:16Z</dcterms:created>
  <dcterms:modified xsi:type="dcterms:W3CDTF">2026-08-14T01:40:15Z</dcterms:modified>
</cp:coreProperties>
</file>
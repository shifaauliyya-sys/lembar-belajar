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4754880" cy="4754880"/>
          </a:xfrm>
          <a:prstGeom prst="ellipse">
            <a:avLst/>
          </a:prstGeom>
          <a:solidFill>
            <a:srgbClr val="3B4A94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291840" cy="3291840"/>
          </a:xfrm>
          <a:prstGeom prst="ellipse">
            <a:avLst/>
          </a:prstGeom>
          <a:solidFill>
            <a:srgbClr val="F96167">
              <a:alpha val="8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188720" y="4846320"/>
            <a:ext cx="3108960" cy="3108960"/>
          </a:xfrm>
          <a:prstGeom prst="ellipse">
            <a:avLst/>
          </a:prstGeom>
          <a:solidFill>
            <a:srgbClr val="3B4A9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WORDS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68680" y="34290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 Lengkap WH-Questions dalam Bahasa Inggris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68680" y="4160520"/>
            <a:ext cx="502920" cy="6400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4343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• Who • Whose • Which • When • Where • Why • How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itu Question Word?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5577840" cy="4480560"/>
          </a:xfrm>
          <a:prstGeom prst="roundRect">
            <a:avLst>
              <a:gd name="adj" fmla="val 2449"/>
            </a:avLst>
          </a:prstGeom>
          <a:solidFill>
            <a:srgbClr val="FBF9F5"/>
          </a:solidFill>
          <a:ln/>
          <a:effectLst>
            <a:outerShdw sx="100000" sy="100000" kx="0" ky="0" algn="bl" rotWithShape="0" blurRad="101600" dist="38100" dir="5400000">
              <a:srgbClr val="9AA0C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810512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810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91640" y="17830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Definisi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37744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word (kata tanya) adalah kata yang digunakan di awal kalimat untuk meminta informasi tertentu — mengenai orang, benda, waktu, tempat, alasan, atau cara.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60120" y="3794760"/>
            <a:ext cx="548640" cy="54864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91640" y="37673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disebut “WH-Questions”?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434340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Karena hampir semua kata tanya diawali huruf “wh” (what, who, whom, whose, which, when, where, why) — kecuali How.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92240" y="1508760"/>
            <a:ext cx="5074920" cy="4480560"/>
          </a:xfrm>
          <a:prstGeom prst="roundRect">
            <a:avLst>
              <a:gd name="adj" fmla="val 2449"/>
            </a:avLst>
          </a:prstGeom>
          <a:solidFill>
            <a:srgbClr val="2F3C7E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0" y="17830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 Utama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858000" y="2423160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0" y="23042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Menanyakan orang atau benda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858000" y="2990088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0" y="287121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Menanyakan waktu kejadian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858000" y="3557016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0" y="34381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Menanyakan tempat / lokasi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858000" y="412394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0" y="40050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Menanyakan alasan / sebab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858000" y="4690872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0" y="4572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Menanyakan cara / metode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858000" y="5257800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0" y="51389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Menanyakan kepemilikan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Words — WH-Questions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Question Words Utama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Sekilas fungsi masing-masing kata tanya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BF9F5"/>
          </a:solidFill>
          <a:ln/>
          <a:effectLst>
            <a:outerShdw sx="100000" sy="100000" kx="0" ky="0" algn="bl" rotWithShape="0" blurRad="76200" dist="25400" dir="5400000">
              <a:srgbClr val="9AA0C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2024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37360" y="18013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737360" y="23134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BF9F5"/>
          </a:solidFill>
          <a:ln/>
          <a:effectLst>
            <a:outerShdw sx="100000" sy="100000" kx="0" ky="0" algn="bl" rotWithShape="0" blurRad="76200" dist="25400" dir="5400000">
              <a:srgbClr val="9AA0C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0288" y="192024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4590288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0" y="18013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0" y="23134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Siapa (subjek)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BF9F5"/>
          </a:solidFill>
          <a:ln/>
          <a:effectLst>
            <a:outerShdw sx="100000" sy="100000" kx="0" ky="0" algn="bl" rotWithShape="0" blurRad="76200" dist="25400" dir="5400000">
              <a:srgbClr val="9AA0C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39328" y="192024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8339328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235440" y="18013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Whom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235440" y="23134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Siapa (objek)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320040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BF9F5"/>
          </a:solidFill>
          <a:ln/>
          <a:effectLst>
            <a:outerShdw sx="100000" sy="100000" kx="0" ky="0" algn="bl" rotWithShape="0" blurRad="76200" dist="25400" dir="5400000">
              <a:srgbClr val="9AA0C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1248" y="352044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3520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737360" y="34015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Whose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737360" y="39136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Milik siapa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389120" y="320040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BF9F5"/>
          </a:solidFill>
          <a:ln/>
          <a:effectLst>
            <a:outerShdw sx="100000" sy="100000" kx="0" ky="0" algn="bl" rotWithShape="0" blurRad="76200" dist="25400" dir="5400000">
              <a:srgbClr val="9AA0C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90288" y="352044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6" name="Text 24"/>
          <p:cNvSpPr/>
          <p:nvPr/>
        </p:nvSpPr>
        <p:spPr>
          <a:xfrm>
            <a:off x="4590288" y="3520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486400" y="34015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486400" y="39136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mana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138160" y="320040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BF9F5"/>
          </a:solidFill>
          <a:ln/>
          <a:effectLst>
            <a:outerShdw sx="100000" sy="100000" kx="0" ky="0" algn="bl" rotWithShape="0" blurRad="76200" dist="25400" dir="5400000">
              <a:srgbClr val="9AA0C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39328" y="352044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1" name="Text 29"/>
          <p:cNvSpPr/>
          <p:nvPr/>
        </p:nvSpPr>
        <p:spPr>
          <a:xfrm>
            <a:off x="8339328" y="3520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235440" y="34015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9235440" y="39136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Kapan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40080" y="480060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BF9F5"/>
          </a:solidFill>
          <a:ln/>
          <a:effectLst>
            <a:outerShdw sx="100000" sy="100000" kx="0" ky="0" algn="bl" rotWithShape="0" blurRad="76200" dist="25400" dir="5400000">
              <a:srgbClr val="9AA0C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41248" y="512064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6" name="Text 34"/>
          <p:cNvSpPr/>
          <p:nvPr/>
        </p:nvSpPr>
        <p:spPr>
          <a:xfrm>
            <a:off x="841248" y="5120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1737360" y="50017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1737360" y="55138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mana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389120" y="480060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BF9F5"/>
          </a:solidFill>
          <a:ln/>
          <a:effectLst>
            <a:outerShdw sx="100000" sy="100000" kx="0" ky="0" algn="bl" rotWithShape="0" blurRad="76200" dist="25400" dir="5400000">
              <a:srgbClr val="9AA0C0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90288" y="512064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1" name="Text 39"/>
          <p:cNvSpPr/>
          <p:nvPr/>
        </p:nvSpPr>
        <p:spPr>
          <a:xfrm>
            <a:off x="4590288" y="5120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5486400" y="50017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5486400" y="55138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8138160" y="480060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BF9F5"/>
          </a:solidFill>
          <a:ln/>
          <a:effectLst>
            <a:outerShdw sx="100000" sy="100000" kx="0" ky="0" algn="bl" rotWithShape="0" blurRad="76200" dist="25400" dir="5400000">
              <a:srgbClr val="9AA0C0">
                <a:alpha val="2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339328" y="512064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6" name="Text 44"/>
          <p:cNvSpPr/>
          <p:nvPr/>
        </p:nvSpPr>
        <p:spPr>
          <a:xfrm>
            <a:off x="8339328" y="5120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9235440" y="50017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9235440" y="55138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Words — WH-Questions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Shape 1"/>
          <p:cNvSpPr/>
          <p:nvPr/>
        </p:nvSpPr>
        <p:spPr>
          <a:xfrm>
            <a:off x="1234440" y="822960"/>
            <a:ext cx="1463040" cy="14630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1234440" y="82296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246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“Apa”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3977640"/>
            <a:ext cx="2926080" cy="2011680"/>
          </a:xfrm>
          <a:prstGeom prst="roundRect">
            <a:avLst>
              <a:gd name="adj" fmla="val 4545"/>
            </a:avLst>
          </a:prstGeom>
          <a:solidFill>
            <a:srgbClr val="3B4A9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114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Digunakan untuk: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443484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Menanyakan benda, informasi, aktivitas, atau pilihan yang bersifat umum.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34340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Kalimat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343400" y="960120"/>
            <a:ext cx="7223760" cy="777240"/>
          </a:xfrm>
          <a:prstGeom prst="roundRect">
            <a:avLst>
              <a:gd name="adj" fmla="val 9412"/>
            </a:avLst>
          </a:prstGeom>
          <a:solidFill>
            <a:srgbClr val="F9E795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96012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+ auxiliary verb + subject + (main verb)?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34340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Kalimat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343400" y="2423160"/>
            <a:ext cx="7223760" cy="658368"/>
          </a:xfrm>
          <a:prstGeom prst="roundRect">
            <a:avLst>
              <a:gd name="adj" fmla="val 11111"/>
            </a:avLst>
          </a:prstGeom>
          <a:solidFill>
            <a:srgbClr val="FBF9F5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242316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your name?</a:t>
            </a:r>
            <a:pPr indent="0" marL="0">
              <a:buNone/>
            </a:pPr>
            <a:r>
              <a:rPr lang="en-US" sz="1300" i="1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(Siapa namamu?)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43400" y="3200400"/>
            <a:ext cx="7223760" cy="658368"/>
          </a:xfrm>
          <a:prstGeom prst="roundRect">
            <a:avLst>
              <a:gd name="adj" fmla="val 11111"/>
            </a:avLst>
          </a:prstGeom>
          <a:solidFill>
            <a:srgbClr val="FBF9F5"/>
          </a:solidFill>
          <a:ln/>
        </p:spPr>
      </p:sp>
      <p:sp>
        <p:nvSpPr>
          <p:cNvPr id="17" name="Text 15"/>
          <p:cNvSpPr/>
          <p:nvPr/>
        </p:nvSpPr>
        <p:spPr>
          <a:xfrm>
            <a:off x="4526280" y="320040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do?</a:t>
            </a:r>
            <a:pPr indent="0" marL="0">
              <a:buNone/>
            </a:pPr>
            <a:r>
              <a:rPr lang="en-US" sz="1300" i="1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(Apa pekerjaanmu?)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43400" y="3977640"/>
            <a:ext cx="7223760" cy="658368"/>
          </a:xfrm>
          <a:prstGeom prst="roundRect">
            <a:avLst>
              <a:gd name="adj" fmla="val 11111"/>
            </a:avLst>
          </a:prstGeom>
          <a:solidFill>
            <a:srgbClr val="FBF9F5"/>
          </a:solidFill>
          <a:ln/>
        </p:spPr>
      </p:sp>
      <p:sp>
        <p:nvSpPr>
          <p:cNvPr id="19" name="Text 17"/>
          <p:cNvSpPr/>
          <p:nvPr/>
        </p:nvSpPr>
        <p:spPr>
          <a:xfrm>
            <a:off x="4526280" y="397764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they doing?</a:t>
            </a:r>
            <a:pPr indent="0" marL="0">
              <a:buNone/>
            </a:pPr>
            <a:r>
              <a:rPr lang="en-US" sz="1300" i="1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(Apa yang mereka lakukan?)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43400" y="484632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Catatan: “What” juga dipakai dalam frasa seperti What time, What kind of, What color.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Words — WH-Questions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1097280" cy="10972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858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103120" y="685800"/>
            <a:ext cx="1097280" cy="109728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6" name="Text 4"/>
          <p:cNvSpPr/>
          <p:nvPr/>
        </p:nvSpPr>
        <p:spPr>
          <a:xfrm>
            <a:off x="2103120" y="6858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&amp; Whom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“Siapa”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3063240"/>
            <a:ext cx="2926080" cy="2926080"/>
          </a:xfrm>
          <a:prstGeom prst="roundRect">
            <a:avLst>
              <a:gd name="adj" fmla="val 3125"/>
            </a:avLst>
          </a:prstGeom>
          <a:solidFill>
            <a:srgbClr val="3B4A9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24612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→ subjek (yang melakukan)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Whom → objek (formal, jarang dipakai lisan)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34340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Kalimat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343400" y="960120"/>
            <a:ext cx="7223760" cy="1188720"/>
          </a:xfrm>
          <a:prstGeom prst="roundRect">
            <a:avLst>
              <a:gd name="adj" fmla="val 6154"/>
            </a:avLst>
          </a:prstGeom>
          <a:solidFill>
            <a:srgbClr val="F9E795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10058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+ verb + (object)?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26280" y="15087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Whom + auxiliary + subject + verb?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4340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Kalimat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343400" y="2834640"/>
            <a:ext cx="7223760" cy="658368"/>
          </a:xfrm>
          <a:prstGeom prst="roundRect">
            <a:avLst>
              <a:gd name="adj" fmla="val 11111"/>
            </a:avLst>
          </a:prstGeom>
          <a:solidFill>
            <a:srgbClr val="FBF9F5"/>
          </a:solidFill>
          <a:ln/>
        </p:spPr>
      </p:sp>
      <p:sp>
        <p:nvSpPr>
          <p:cNvPr id="17" name="Text 15"/>
          <p:cNvSpPr/>
          <p:nvPr/>
        </p:nvSpPr>
        <p:spPr>
          <a:xfrm>
            <a:off x="4526280" y="283464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that man?</a:t>
            </a:r>
            <a:pPr indent="0" marL="0">
              <a:buNone/>
            </a:pPr>
            <a:r>
              <a:rPr lang="en-US" sz="1300" i="1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(Siapa pria itu?)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43400" y="3611880"/>
            <a:ext cx="7223760" cy="658368"/>
          </a:xfrm>
          <a:prstGeom prst="roundRect">
            <a:avLst>
              <a:gd name="adj" fmla="val 11111"/>
            </a:avLst>
          </a:prstGeom>
          <a:solidFill>
            <a:srgbClr val="FBF9F5"/>
          </a:solidFill>
          <a:ln/>
        </p:spPr>
      </p:sp>
      <p:sp>
        <p:nvSpPr>
          <p:cNvPr id="19" name="Text 17"/>
          <p:cNvSpPr/>
          <p:nvPr/>
        </p:nvSpPr>
        <p:spPr>
          <a:xfrm>
            <a:off x="4526280" y="361188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broke the window?</a:t>
            </a:r>
            <a:pPr indent="0" marL="0">
              <a:buNone/>
            </a:pPr>
            <a:r>
              <a:rPr lang="en-US" sz="1300" i="1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(Siapa yang memecahkan jendela?)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43400" y="4389120"/>
            <a:ext cx="7223760" cy="658368"/>
          </a:xfrm>
          <a:prstGeom prst="roundRect">
            <a:avLst>
              <a:gd name="adj" fmla="val 11111"/>
            </a:avLst>
          </a:prstGeom>
          <a:solidFill>
            <a:srgbClr val="FBF9F5"/>
          </a:solidFill>
          <a:ln/>
        </p:spPr>
      </p:sp>
      <p:sp>
        <p:nvSpPr>
          <p:cNvPr id="21" name="Text 19"/>
          <p:cNvSpPr/>
          <p:nvPr/>
        </p:nvSpPr>
        <p:spPr>
          <a:xfrm>
            <a:off x="4526280" y="438912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Whom did you invite?</a:t>
            </a:r>
            <a:pPr indent="0" marL="0">
              <a:buNone/>
            </a:pPr>
            <a:r>
              <a:rPr lang="en-US" sz="1300" i="1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(Siapa yang kamu undang?)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343400" y="525780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Dalam percakapan sehari-hari, “Who” sering dipakai menggantikan “Whom”.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Words — WH-Questions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Shape 1"/>
          <p:cNvSpPr/>
          <p:nvPr/>
        </p:nvSpPr>
        <p:spPr>
          <a:xfrm>
            <a:off x="1234440" y="822960"/>
            <a:ext cx="1463040" cy="14630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1234440" y="82296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Whose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246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“Milik Siapa”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3977640"/>
            <a:ext cx="2926080" cy="2011680"/>
          </a:xfrm>
          <a:prstGeom prst="roundRect">
            <a:avLst>
              <a:gd name="adj" fmla="val 4545"/>
            </a:avLst>
          </a:prstGeom>
          <a:solidFill>
            <a:srgbClr val="3B4A9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114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Digunakan untuk: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443484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Menanyakan kepemilikan suatu benda atau hal.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34340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Kalimat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343400" y="960120"/>
            <a:ext cx="7223760" cy="777240"/>
          </a:xfrm>
          <a:prstGeom prst="roundRect">
            <a:avLst>
              <a:gd name="adj" fmla="val 9412"/>
            </a:avLst>
          </a:prstGeom>
          <a:solidFill>
            <a:srgbClr val="F9E795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96012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Whose + noun + verb + subject?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34340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Kalimat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343400" y="2423160"/>
            <a:ext cx="7223760" cy="658368"/>
          </a:xfrm>
          <a:prstGeom prst="roundRect">
            <a:avLst>
              <a:gd name="adj" fmla="val 11111"/>
            </a:avLst>
          </a:prstGeom>
          <a:solidFill>
            <a:srgbClr val="FBF9F5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242316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Whose book is this?</a:t>
            </a:r>
            <a:pPr indent="0" marL="0">
              <a:buNone/>
            </a:pPr>
            <a:r>
              <a:rPr lang="en-US" sz="1300" i="1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(Ini buku siapa?)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43400" y="3200400"/>
            <a:ext cx="7223760" cy="658368"/>
          </a:xfrm>
          <a:prstGeom prst="roundRect">
            <a:avLst>
              <a:gd name="adj" fmla="val 11111"/>
            </a:avLst>
          </a:prstGeom>
          <a:solidFill>
            <a:srgbClr val="FBF9F5"/>
          </a:solidFill>
          <a:ln/>
        </p:spPr>
      </p:sp>
      <p:sp>
        <p:nvSpPr>
          <p:cNvPr id="17" name="Text 15"/>
          <p:cNvSpPr/>
          <p:nvPr/>
        </p:nvSpPr>
        <p:spPr>
          <a:xfrm>
            <a:off x="4526280" y="320040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Whose car is parked outside?</a:t>
            </a:r>
            <a:pPr indent="0" marL="0">
              <a:buNone/>
            </a:pPr>
            <a:r>
              <a:rPr lang="en-US" sz="1300" i="1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(Mobil siapa yang parkir di luar?)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43400" y="3977640"/>
            <a:ext cx="7223760" cy="658368"/>
          </a:xfrm>
          <a:prstGeom prst="roundRect">
            <a:avLst>
              <a:gd name="adj" fmla="val 11111"/>
            </a:avLst>
          </a:prstGeom>
          <a:solidFill>
            <a:srgbClr val="FBF9F5"/>
          </a:solidFill>
          <a:ln/>
        </p:spPr>
      </p:sp>
      <p:sp>
        <p:nvSpPr>
          <p:cNvPr id="19" name="Text 17"/>
          <p:cNvSpPr/>
          <p:nvPr/>
        </p:nvSpPr>
        <p:spPr>
          <a:xfrm>
            <a:off x="4526280" y="397764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Whose idea was it?</a:t>
            </a:r>
            <a:pPr indent="0" marL="0">
              <a:buNone/>
            </a:pPr>
            <a:r>
              <a:rPr lang="en-US" sz="1300" i="1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(Ide siapa itu?)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43400" y="484632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Catatan: “Whose” selalu diikuti kata benda (noun) langsung setelahnya.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Words — WH-Questions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Shape 1"/>
          <p:cNvSpPr/>
          <p:nvPr/>
        </p:nvSpPr>
        <p:spPr>
          <a:xfrm>
            <a:off x="1234440" y="822960"/>
            <a:ext cx="1463040" cy="14630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1234440" y="82296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246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“Yang Mana”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3977640"/>
            <a:ext cx="2926080" cy="2011680"/>
          </a:xfrm>
          <a:prstGeom prst="roundRect">
            <a:avLst>
              <a:gd name="adj" fmla="val 4545"/>
            </a:avLst>
          </a:prstGeom>
          <a:solidFill>
            <a:srgbClr val="3B4A9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114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Digunakan untuk: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443484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Menanyakan pilihan di antara beberapa opsi yang sudah diketahui/terbatas.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34340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Kalimat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343400" y="960120"/>
            <a:ext cx="7223760" cy="777240"/>
          </a:xfrm>
          <a:prstGeom prst="roundRect">
            <a:avLst>
              <a:gd name="adj" fmla="val 9412"/>
            </a:avLst>
          </a:prstGeom>
          <a:solidFill>
            <a:srgbClr val="F9E795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96012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Which + noun + auxiliary + subject + verb?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34340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Kalimat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343400" y="2423160"/>
            <a:ext cx="7223760" cy="658368"/>
          </a:xfrm>
          <a:prstGeom prst="roundRect">
            <a:avLst>
              <a:gd name="adj" fmla="val 11111"/>
            </a:avLst>
          </a:prstGeom>
          <a:solidFill>
            <a:srgbClr val="FBF9F5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242316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color do you like?</a:t>
            </a:r>
            <a:pPr indent="0" marL="0">
              <a:buNone/>
            </a:pPr>
            <a:r>
              <a:rPr lang="en-US" sz="1300" i="1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(Warna mana yang kamu suka?)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43400" y="3200400"/>
            <a:ext cx="7223760" cy="658368"/>
          </a:xfrm>
          <a:prstGeom prst="roundRect">
            <a:avLst>
              <a:gd name="adj" fmla="val 11111"/>
            </a:avLst>
          </a:prstGeom>
          <a:solidFill>
            <a:srgbClr val="FBF9F5"/>
          </a:solidFill>
          <a:ln/>
        </p:spPr>
      </p:sp>
      <p:sp>
        <p:nvSpPr>
          <p:cNvPr id="17" name="Text 15"/>
          <p:cNvSpPr/>
          <p:nvPr/>
        </p:nvSpPr>
        <p:spPr>
          <a:xfrm>
            <a:off x="4526280" y="320040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one is yours?</a:t>
            </a:r>
            <a:pPr indent="0" marL="0">
              <a:buNone/>
            </a:pPr>
            <a:r>
              <a:rPr lang="en-US" sz="1300" i="1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(Yang mana punyamu?)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43400" y="3977640"/>
            <a:ext cx="7223760" cy="658368"/>
          </a:xfrm>
          <a:prstGeom prst="roundRect">
            <a:avLst>
              <a:gd name="adj" fmla="val 11111"/>
            </a:avLst>
          </a:prstGeom>
          <a:solidFill>
            <a:srgbClr val="FBF9F5"/>
          </a:solidFill>
          <a:ln/>
        </p:spPr>
      </p:sp>
      <p:sp>
        <p:nvSpPr>
          <p:cNvPr id="19" name="Text 17"/>
          <p:cNvSpPr/>
          <p:nvPr/>
        </p:nvSpPr>
        <p:spPr>
          <a:xfrm>
            <a:off x="4526280" y="397764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bus goes downtown?</a:t>
            </a:r>
            <a:pPr indent="0" marL="0">
              <a:buNone/>
            </a:pPr>
            <a:r>
              <a:rPr lang="en-US" sz="1300" i="1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(Bus mana yang ke pusat kota?)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43400" y="484632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Perbedaan dengan What: Which dipakai saat pilihan terbatas &amp; spesifik, What untuk pilihan terbuka/umum.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Words — WH-Questions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Shape 1"/>
          <p:cNvSpPr/>
          <p:nvPr/>
        </p:nvSpPr>
        <p:spPr>
          <a:xfrm>
            <a:off x="1234440" y="822960"/>
            <a:ext cx="1463040" cy="14630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1234440" y="82296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246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“Kapan”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3977640"/>
            <a:ext cx="2926080" cy="2011680"/>
          </a:xfrm>
          <a:prstGeom prst="roundRect">
            <a:avLst>
              <a:gd name="adj" fmla="val 4545"/>
            </a:avLst>
          </a:prstGeom>
          <a:solidFill>
            <a:srgbClr val="3B4A9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114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Digunakan untuk: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443484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Menanyakan waktu terjadinya suatu peristiwa.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34340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Kalimat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343400" y="960120"/>
            <a:ext cx="7223760" cy="777240"/>
          </a:xfrm>
          <a:prstGeom prst="roundRect">
            <a:avLst>
              <a:gd name="adj" fmla="val 9412"/>
            </a:avLst>
          </a:prstGeom>
          <a:solidFill>
            <a:srgbClr val="F9E795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96012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+ auxiliary verb + subject + main verb?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34340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Kalimat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343400" y="2423160"/>
            <a:ext cx="7223760" cy="658368"/>
          </a:xfrm>
          <a:prstGeom prst="roundRect">
            <a:avLst>
              <a:gd name="adj" fmla="val 11111"/>
            </a:avLst>
          </a:prstGeom>
          <a:solidFill>
            <a:srgbClr val="FBF9F5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242316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is your birthday?</a:t>
            </a:r>
            <a:pPr indent="0" marL="0">
              <a:buNone/>
            </a:pPr>
            <a:r>
              <a:rPr lang="en-US" sz="1300" i="1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(Kapan ulang tahunmu?)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43400" y="3200400"/>
            <a:ext cx="7223760" cy="658368"/>
          </a:xfrm>
          <a:prstGeom prst="roundRect">
            <a:avLst>
              <a:gd name="adj" fmla="val 11111"/>
            </a:avLst>
          </a:prstGeom>
          <a:solidFill>
            <a:srgbClr val="FBF9F5"/>
          </a:solidFill>
          <a:ln/>
        </p:spPr>
      </p:sp>
      <p:sp>
        <p:nvSpPr>
          <p:cNvPr id="17" name="Text 15"/>
          <p:cNvSpPr/>
          <p:nvPr/>
        </p:nvSpPr>
        <p:spPr>
          <a:xfrm>
            <a:off x="4526280" y="320040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the movie start?</a:t>
            </a:r>
            <a:pPr indent="0" marL="0">
              <a:buNone/>
            </a:pPr>
            <a:r>
              <a:rPr lang="en-US" sz="1300" i="1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(Kapan film dimulai?)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43400" y="3977640"/>
            <a:ext cx="7223760" cy="658368"/>
          </a:xfrm>
          <a:prstGeom prst="roundRect">
            <a:avLst>
              <a:gd name="adj" fmla="val 11111"/>
            </a:avLst>
          </a:prstGeom>
          <a:solidFill>
            <a:srgbClr val="FBF9F5"/>
          </a:solidFill>
          <a:ln/>
        </p:spPr>
      </p:sp>
      <p:sp>
        <p:nvSpPr>
          <p:cNvPr id="19" name="Text 17"/>
          <p:cNvSpPr/>
          <p:nvPr/>
        </p:nvSpPr>
        <p:spPr>
          <a:xfrm>
            <a:off x="4526280" y="397764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did you arrive?</a:t>
            </a:r>
            <a:pPr indent="0" marL="0">
              <a:buNone/>
            </a:pPr>
            <a:r>
              <a:rPr lang="en-US" sz="1300" i="1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(Kapan kamu tiba?)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43400" y="484632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Jawaban biasanya berupa keterangan waktu: hari, tanggal, jam, atau periode.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Words — WH-Questions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Shape 1"/>
          <p:cNvSpPr/>
          <p:nvPr/>
        </p:nvSpPr>
        <p:spPr>
          <a:xfrm>
            <a:off x="1234440" y="822960"/>
            <a:ext cx="1463040" cy="14630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1234440" y="82296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246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 Mana”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3977640"/>
            <a:ext cx="2926080" cy="2011680"/>
          </a:xfrm>
          <a:prstGeom prst="roundRect">
            <a:avLst>
              <a:gd name="adj" fmla="val 4545"/>
            </a:avLst>
          </a:prstGeom>
          <a:solidFill>
            <a:srgbClr val="3B4A9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114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Digunakan untuk: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443484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Menanyakan tempat atau lokasi suatu benda, orang, atau kejadian.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34340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Kalimat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343400" y="960120"/>
            <a:ext cx="7223760" cy="777240"/>
          </a:xfrm>
          <a:prstGeom prst="roundRect">
            <a:avLst>
              <a:gd name="adj" fmla="val 9412"/>
            </a:avLst>
          </a:prstGeom>
          <a:solidFill>
            <a:srgbClr val="F9E795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96012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+ auxiliary verb + subject + main verb?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34340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Kalimat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343400" y="2423160"/>
            <a:ext cx="7223760" cy="658368"/>
          </a:xfrm>
          <a:prstGeom prst="roundRect">
            <a:avLst>
              <a:gd name="adj" fmla="val 11111"/>
            </a:avLst>
          </a:prstGeom>
          <a:solidFill>
            <a:srgbClr val="FBF9F5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242316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you live?</a:t>
            </a:r>
            <a:pPr indent="0" marL="0">
              <a:buNone/>
            </a:pPr>
            <a:r>
              <a:rPr lang="en-US" sz="1300" i="1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(Di mana kamu tinggal?)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43400" y="3200400"/>
            <a:ext cx="7223760" cy="658368"/>
          </a:xfrm>
          <a:prstGeom prst="roundRect">
            <a:avLst>
              <a:gd name="adj" fmla="val 11111"/>
            </a:avLst>
          </a:prstGeom>
          <a:solidFill>
            <a:srgbClr val="FBF9F5"/>
          </a:solidFill>
          <a:ln/>
        </p:spPr>
      </p:sp>
      <p:sp>
        <p:nvSpPr>
          <p:cNvPr id="17" name="Text 15"/>
          <p:cNvSpPr/>
          <p:nvPr/>
        </p:nvSpPr>
        <p:spPr>
          <a:xfrm>
            <a:off x="4526280" y="320040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library?</a:t>
            </a:r>
            <a:pPr indent="0" marL="0">
              <a:buNone/>
            </a:pPr>
            <a:r>
              <a:rPr lang="en-US" sz="1300" i="1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(Di mana perpustakaan?)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43400" y="3977640"/>
            <a:ext cx="7223760" cy="658368"/>
          </a:xfrm>
          <a:prstGeom prst="roundRect">
            <a:avLst>
              <a:gd name="adj" fmla="val 11111"/>
            </a:avLst>
          </a:prstGeom>
          <a:solidFill>
            <a:srgbClr val="FBF9F5"/>
          </a:solidFill>
          <a:ln/>
        </p:spPr>
      </p:sp>
      <p:sp>
        <p:nvSpPr>
          <p:cNvPr id="19" name="Text 17"/>
          <p:cNvSpPr/>
          <p:nvPr/>
        </p:nvSpPr>
        <p:spPr>
          <a:xfrm>
            <a:off x="4526280" y="397764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did they go?</a:t>
            </a:r>
            <a:pPr indent="0" marL="0">
              <a:buNone/>
            </a:pPr>
            <a:r>
              <a:rPr lang="en-US" sz="1300" i="1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(Ke mana mereka pergi?)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43400" y="484632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Jawaban biasanya menggunakan preposisi tempat: in, at, on, near, dsb.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Words — WH-Questions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Shape 1"/>
          <p:cNvSpPr/>
          <p:nvPr/>
        </p:nvSpPr>
        <p:spPr>
          <a:xfrm>
            <a:off x="1234440" y="822960"/>
            <a:ext cx="1463040" cy="14630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1234440" y="82296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246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“Mengapa”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3977640"/>
            <a:ext cx="2926080" cy="2011680"/>
          </a:xfrm>
          <a:prstGeom prst="roundRect">
            <a:avLst>
              <a:gd name="adj" fmla="val 4545"/>
            </a:avLst>
          </a:prstGeom>
          <a:solidFill>
            <a:srgbClr val="3B4A9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114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Digunakan untuk: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443484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Menanyakan alasan atau sebab dari suatu hal.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34340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Kalimat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343400" y="960120"/>
            <a:ext cx="7223760" cy="777240"/>
          </a:xfrm>
          <a:prstGeom prst="roundRect">
            <a:avLst>
              <a:gd name="adj" fmla="val 9412"/>
            </a:avLst>
          </a:prstGeom>
          <a:solidFill>
            <a:srgbClr val="F9E795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96012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+ auxiliary verb + subject + main verb?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34340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Kalimat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343400" y="2423160"/>
            <a:ext cx="7223760" cy="658368"/>
          </a:xfrm>
          <a:prstGeom prst="roundRect">
            <a:avLst>
              <a:gd name="adj" fmla="val 11111"/>
            </a:avLst>
          </a:prstGeom>
          <a:solidFill>
            <a:srgbClr val="FBF9F5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242316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you late?</a:t>
            </a:r>
            <a:pPr indent="0" marL="0">
              <a:buNone/>
            </a:pPr>
            <a:r>
              <a:rPr lang="en-US" sz="1300" i="1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(Mengapa kamu terlambat?)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43400" y="3200400"/>
            <a:ext cx="7223760" cy="658368"/>
          </a:xfrm>
          <a:prstGeom prst="roundRect">
            <a:avLst>
              <a:gd name="adj" fmla="val 11111"/>
            </a:avLst>
          </a:prstGeom>
          <a:solidFill>
            <a:srgbClr val="FBF9F5"/>
          </a:solidFill>
          <a:ln/>
        </p:spPr>
      </p:sp>
      <p:sp>
        <p:nvSpPr>
          <p:cNvPr id="17" name="Text 15"/>
          <p:cNvSpPr/>
          <p:nvPr/>
        </p:nvSpPr>
        <p:spPr>
          <a:xfrm>
            <a:off x="4526280" y="320040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she leave?</a:t>
            </a:r>
            <a:pPr indent="0" marL="0">
              <a:buNone/>
            </a:pPr>
            <a:r>
              <a:rPr lang="en-US" sz="1300" i="1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(Mengapa dia pergi?)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43400" y="3977640"/>
            <a:ext cx="7223760" cy="658368"/>
          </a:xfrm>
          <a:prstGeom prst="roundRect">
            <a:avLst>
              <a:gd name="adj" fmla="val 11111"/>
            </a:avLst>
          </a:prstGeom>
          <a:solidFill>
            <a:srgbClr val="FBF9F5"/>
          </a:solidFill>
          <a:ln/>
        </p:spPr>
      </p:sp>
      <p:sp>
        <p:nvSpPr>
          <p:cNvPr id="19" name="Text 17"/>
          <p:cNvSpPr/>
          <p:nvPr/>
        </p:nvSpPr>
        <p:spPr>
          <a:xfrm>
            <a:off x="4526280" y="397764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don’t we start now?</a:t>
            </a:r>
            <a:pPr indent="0" marL="0">
              <a:buNone/>
            </a:pPr>
            <a:r>
              <a:rPr lang="en-US" sz="1300" i="1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(Bagaimana kalau kita mulai sekarang?)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43400" y="484632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Jawaban biasanya diawali “Because...” (Karena...).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Words — WH-Questions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&amp; Variasinya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4241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“Bagaimana” — dapat dikombinasikan dengan kata lain untuk makna lebih spesifik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FBF9F5"/>
          </a:solidFill>
          <a:ln/>
          <a:effectLst>
            <a:outerShdw sx="100000" sy="100000" kx="0" ky="0" algn="bl" rotWithShape="0" blurRad="76200" dist="25400" dir="5400000">
              <a:srgbClr val="9AA0C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916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03911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(cara)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39572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cook rice?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FBF9F5"/>
          </a:solidFill>
          <a:ln/>
          <a:effectLst>
            <a:outerShdw sx="100000" sy="100000" kx="0" ky="0" algn="bl" rotWithShape="0" blurRad="76200" dist="25400" dir="5400000">
              <a:srgbClr val="9AA0C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16916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203911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Berapa banyak (tak terhitung)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239572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water is left?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099816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FBF9F5"/>
          </a:solidFill>
          <a:ln/>
          <a:effectLst>
            <a:outerShdw sx="100000" sy="100000" kx="0" ky="0" algn="bl" rotWithShape="0" blurRad="76200" dist="25400" dir="5400000">
              <a:srgbClr val="9AA0C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3191256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353872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Berapa banyak (terhitung)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389534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students are there?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3099816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FBF9F5"/>
          </a:solidFill>
          <a:ln/>
          <a:effectLst>
            <a:outerShdw sx="100000" sy="100000" kx="0" ky="0" algn="bl" rotWithShape="0" blurRad="76200" dist="25400" dir="5400000">
              <a:srgbClr val="9AA0C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3191256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0" y="353872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Seberapa sering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389534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do you exercise?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599432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FBF9F5"/>
          </a:solidFill>
          <a:ln/>
          <a:effectLst>
            <a:outerShdw sx="100000" sy="100000" kx="0" ky="0" algn="bl" rotWithShape="0" blurRad="76200" dist="25400" dir="5400000">
              <a:srgbClr val="9AA0C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" y="469087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8680" y="5038344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Berapa lama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539496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is the trip?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63640" y="4599432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FBF9F5"/>
          </a:solidFill>
          <a:ln/>
          <a:effectLst>
            <a:outerShdw sx="100000" sy="100000" kx="0" ky="0" algn="bl" rotWithShape="0" blurRad="76200" dist="25400" dir="5400000">
              <a:srgbClr val="9AA0C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92240" y="469087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/ old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92240" y="5038344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Seberapa jauh / usia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539496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old are you?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Words — WH-Questions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Struktur Kalimat Tanya (Umum)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2F3C7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 Word  +  Auxiliary Verb  +  Subject  +  Main Verb  +  ... 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10881360" cy="621792"/>
          </a:xfrm>
          <a:prstGeom prst="rect">
            <a:avLst/>
          </a:prstGeom>
          <a:solidFill>
            <a:srgbClr val="FBF9F5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65176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Auxiliary verb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749040" y="2651760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do, does, did, am, is, are, was, were, can, will, have, ...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273552"/>
            <a:ext cx="1088136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27355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(present)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49040" y="3273552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you work?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895344"/>
            <a:ext cx="10881360" cy="621792"/>
          </a:xfrm>
          <a:prstGeom prst="rect">
            <a:avLst/>
          </a:prstGeom>
          <a:solidFill>
            <a:srgbClr val="FBF9F5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89534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(past)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49040" y="3895344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did she call you?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517136"/>
            <a:ext cx="1088136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517136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(to be)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49040" y="4517136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your favorite color?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5138928"/>
            <a:ext cx="10881360" cy="621792"/>
          </a:xfrm>
          <a:prstGeom prst="rect">
            <a:avLst/>
          </a:prstGeom>
          <a:solidFill>
            <a:srgbClr val="FBF9F5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138928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(modal)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49040" y="5138928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I help you?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2651760"/>
            <a:ext cx="10881360" cy="0"/>
          </a:xfrm>
          <a:prstGeom prst="line">
            <a:avLst/>
          </a:prstGeom>
          <a:noFill/>
          <a:ln w="12700">
            <a:solidFill>
              <a:srgbClr val="D8DA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Words — WH-Questions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Latihan Singkat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Lengkapi kalimat berikut dengan question word yang tepat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FBF9F5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856232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76479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 is your favorite subject?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937760" y="176479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(What)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FBF9F5"/>
          </a:solidFill>
          <a:ln/>
        </p:spPr>
      </p:sp>
      <p:sp>
        <p:nvSpPr>
          <p:cNvPr id="10" name="Shape 8"/>
          <p:cNvSpPr/>
          <p:nvPr/>
        </p:nvSpPr>
        <p:spPr>
          <a:xfrm>
            <a:off x="6428232" y="1856232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40880" y="176479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 does the bus leave?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561320" y="176479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(When)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265176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FBF9F5"/>
          </a:solidFill>
          <a:ln/>
        </p:spPr>
      </p:sp>
      <p:sp>
        <p:nvSpPr>
          <p:cNvPr id="15" name="Shape 13"/>
          <p:cNvSpPr/>
          <p:nvPr/>
        </p:nvSpPr>
        <p:spPr>
          <a:xfrm>
            <a:off x="804672" y="2816352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2816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272491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 is that girl over there?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937760" y="272491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(Who)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265176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FBF9F5"/>
          </a:solidFill>
          <a:ln/>
        </p:spPr>
      </p:sp>
      <p:sp>
        <p:nvSpPr>
          <p:cNvPr id="20" name="Shape 18"/>
          <p:cNvSpPr/>
          <p:nvPr/>
        </p:nvSpPr>
        <p:spPr>
          <a:xfrm>
            <a:off x="6428232" y="2816352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/>
          <p:nvPr/>
        </p:nvSpPr>
        <p:spPr>
          <a:xfrm>
            <a:off x="6428232" y="2816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040880" y="272491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 bag is this — yours or mine?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0561320" y="272491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(Whose)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361188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FBF9F5"/>
          </a:solidFill>
          <a:ln/>
        </p:spPr>
      </p:sp>
      <p:sp>
        <p:nvSpPr>
          <p:cNvPr id="25" name="Shape 23"/>
          <p:cNvSpPr/>
          <p:nvPr/>
        </p:nvSpPr>
        <p:spPr>
          <a:xfrm>
            <a:off x="804672" y="3776472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" y="3776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417320" y="368503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 do you go to school?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937760" y="368503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(How)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63640" y="361188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FBF9F5"/>
          </a:solidFill>
          <a:ln/>
        </p:spPr>
      </p:sp>
      <p:sp>
        <p:nvSpPr>
          <p:cNvPr id="30" name="Shape 28"/>
          <p:cNvSpPr/>
          <p:nvPr/>
        </p:nvSpPr>
        <p:spPr>
          <a:xfrm>
            <a:off x="6428232" y="3776472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1" name="Text 29"/>
          <p:cNvSpPr/>
          <p:nvPr/>
        </p:nvSpPr>
        <p:spPr>
          <a:xfrm>
            <a:off x="6428232" y="3776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040880" y="368503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 are you crying?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0561320" y="368503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(Why)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Words — WH-Questions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3B4A94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572000"/>
            <a:ext cx="3657600" cy="3657600"/>
          </a:xfrm>
          <a:prstGeom prst="ellipse">
            <a:avLst/>
          </a:prstGeom>
          <a:solidFill>
            <a:srgbClr val="F96167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Ringkasan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Sembilan kata tanya untuk menggali informasi apa pun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520440" cy="1170432"/>
          </a:xfrm>
          <a:prstGeom prst="roundRect">
            <a:avLst>
              <a:gd name="adj" fmla="val 7813"/>
            </a:avLst>
          </a:prstGeom>
          <a:solidFill>
            <a:srgbClr val="3B4A9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94767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40487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783080"/>
            <a:ext cx="3520440" cy="1170432"/>
          </a:xfrm>
          <a:prstGeom prst="roundRect">
            <a:avLst>
              <a:gd name="adj" fmla="val 7813"/>
            </a:avLst>
          </a:prstGeom>
          <a:solidFill>
            <a:srgbClr val="3B4A94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94767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17720" y="240487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1783080"/>
            <a:ext cx="3520440" cy="1170432"/>
          </a:xfrm>
          <a:prstGeom prst="roundRect">
            <a:avLst>
              <a:gd name="adj" fmla="val 7813"/>
            </a:avLst>
          </a:prstGeom>
          <a:solidFill>
            <a:srgbClr val="3B4A94"/>
          </a:solidFill>
          <a:ln/>
        </p:spPr>
      </p:sp>
      <p:sp>
        <p:nvSpPr>
          <p:cNvPr id="13" name="Text 11"/>
          <p:cNvSpPr/>
          <p:nvPr/>
        </p:nvSpPr>
        <p:spPr>
          <a:xfrm>
            <a:off x="8366760" y="194767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366760" y="240487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Siapa (objek)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136392"/>
            <a:ext cx="3520440" cy="1170432"/>
          </a:xfrm>
          <a:prstGeom prst="roundRect">
            <a:avLst>
              <a:gd name="adj" fmla="val 7813"/>
            </a:avLst>
          </a:prstGeom>
          <a:solidFill>
            <a:srgbClr val="3B4A94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30098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Whose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8680" y="3758184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Milik siapa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89120" y="3136392"/>
            <a:ext cx="3520440" cy="1170432"/>
          </a:xfrm>
          <a:prstGeom prst="roundRect">
            <a:avLst>
              <a:gd name="adj" fmla="val 7813"/>
            </a:avLst>
          </a:prstGeom>
          <a:solidFill>
            <a:srgbClr val="3B4A94"/>
          </a:solidFill>
          <a:ln/>
        </p:spPr>
      </p:sp>
      <p:sp>
        <p:nvSpPr>
          <p:cNvPr id="19" name="Text 17"/>
          <p:cNvSpPr/>
          <p:nvPr/>
        </p:nvSpPr>
        <p:spPr>
          <a:xfrm>
            <a:off x="4617720" y="330098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617720" y="3758184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mana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138160" y="3136392"/>
            <a:ext cx="3520440" cy="1170432"/>
          </a:xfrm>
          <a:prstGeom prst="roundRect">
            <a:avLst>
              <a:gd name="adj" fmla="val 7813"/>
            </a:avLst>
          </a:prstGeom>
          <a:solidFill>
            <a:srgbClr val="3B4A94"/>
          </a:solidFill>
          <a:ln/>
        </p:spPr>
      </p:sp>
      <p:sp>
        <p:nvSpPr>
          <p:cNvPr id="22" name="Text 20"/>
          <p:cNvSpPr/>
          <p:nvPr/>
        </p:nvSpPr>
        <p:spPr>
          <a:xfrm>
            <a:off x="8366760" y="330098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66760" y="3758184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489704"/>
            <a:ext cx="3520440" cy="1170432"/>
          </a:xfrm>
          <a:prstGeom prst="roundRect">
            <a:avLst>
              <a:gd name="adj" fmla="val 7813"/>
            </a:avLst>
          </a:prstGeom>
          <a:solidFill>
            <a:srgbClr val="3B4A94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65429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68680" y="5111496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mana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389120" y="4489704"/>
            <a:ext cx="3520440" cy="1170432"/>
          </a:xfrm>
          <a:prstGeom prst="roundRect">
            <a:avLst>
              <a:gd name="adj" fmla="val 7813"/>
            </a:avLst>
          </a:prstGeom>
          <a:solidFill>
            <a:srgbClr val="3B4A94"/>
          </a:solidFill>
          <a:ln/>
        </p:spPr>
      </p:sp>
      <p:sp>
        <p:nvSpPr>
          <p:cNvPr id="28" name="Text 26"/>
          <p:cNvSpPr/>
          <p:nvPr/>
        </p:nvSpPr>
        <p:spPr>
          <a:xfrm>
            <a:off x="4617720" y="465429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617720" y="5111496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138160" y="4489704"/>
            <a:ext cx="3520440" cy="1170432"/>
          </a:xfrm>
          <a:prstGeom prst="roundRect">
            <a:avLst>
              <a:gd name="adj" fmla="val 7813"/>
            </a:avLst>
          </a:prstGeom>
          <a:solidFill>
            <a:srgbClr val="3B4A94"/>
          </a:solidFill>
          <a:ln/>
        </p:spPr>
      </p:sp>
      <p:sp>
        <p:nvSpPr>
          <p:cNvPr id="31" name="Text 29"/>
          <p:cNvSpPr/>
          <p:nvPr/>
        </p:nvSpPr>
        <p:spPr>
          <a:xfrm>
            <a:off x="8366760" y="465429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366760" y="5111496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" y="61722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 — Selamat Belajar!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2026-08-26T00:56:21Z</dcterms:created>
  <dcterms:modified xsi:type="dcterms:W3CDTF">2026-08-26T00:56:21Z</dcterms:modified>
</cp:coreProperties>
</file>
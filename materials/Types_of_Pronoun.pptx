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188720"/>
            <a:ext cx="4572000" cy="457200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846320"/>
            <a:ext cx="2926080" cy="2926080"/>
          </a:xfrm>
          <a:prstGeom prst="ellipse">
            <a:avLst/>
          </a:prstGeom>
          <a:solidFill>
            <a:srgbClr val="FF3EA5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5120640"/>
            <a:ext cx="2194560" cy="2194560"/>
          </a:xfrm>
          <a:prstGeom prst="ellipse">
            <a:avLst/>
          </a:prstGeom>
          <a:solidFill>
            <a:srgbClr val="D4FF3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914400"/>
            <a:ext cx="128016" cy="128016"/>
          </a:xfrm>
          <a:prstGeom prst="ellipse">
            <a:avLst/>
          </a:prstGeom>
          <a:solidFill>
            <a:srgbClr val="3A2666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1463040"/>
            <a:ext cx="82296" cy="82296"/>
          </a:xfrm>
          <a:prstGeom prst="ellipse">
            <a:avLst/>
          </a:prstGeom>
          <a:solidFill>
            <a:srgbClr val="3A266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920240"/>
            <a:ext cx="64008" cy="64008"/>
          </a:xfrm>
          <a:prstGeom prst="ellipse">
            <a:avLst/>
          </a:prstGeom>
          <a:solidFill>
            <a:srgbClr val="3A2666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685800"/>
            <a:ext cx="2880360" cy="457200"/>
          </a:xfrm>
          <a:prstGeom prst="roundRect">
            <a:avLst>
              <a:gd name="adj" fmla="val 50000"/>
            </a:avLst>
          </a:prstGeom>
          <a:solidFill>
            <a:srgbClr val="2A1B5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6858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4F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GRAMMAR SKILLS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1965960"/>
            <a:ext cx="8869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</a:t>
            </a:r>
            <a:endParaRPr lang="en-US" sz="62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6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PRONOUN</a:t>
            </a:r>
            <a:endParaRPr lang="en-US" sz="6200" dirty="0"/>
          </a:p>
        </p:txBody>
      </p:sp>
      <p:sp>
        <p:nvSpPr>
          <p:cNvPr id="11" name="Text 9"/>
          <p:cNvSpPr/>
          <p:nvPr/>
        </p:nvSpPr>
        <p:spPr>
          <a:xfrm>
            <a:off x="594360" y="4709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i="1" dirty="0">
                <a:solidFill>
                  <a:srgbClr val="FF3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word, </a:t>
            </a:r>
            <a:pPr algn="l" indent="0" marL="0">
              <a:buNone/>
            </a:pPr>
            <a:r>
              <a:rPr lang="en-US" sz="2000" i="1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hundred ways to say it.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94360" y="5440680"/>
            <a:ext cx="4480560" cy="502920"/>
          </a:xfrm>
          <a:prstGeom prst="roundRect">
            <a:avLst>
              <a:gd name="adj" fmla="val 1818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B7F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54406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grammar  ·  mengenal jenis-jenis kata ganti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915668" cy="384048"/>
          </a:xfrm>
          <a:prstGeom prst="roundRect">
            <a:avLst>
              <a:gd name="adj" fmla="val 50000"/>
            </a:avLst>
          </a:prstGeom>
          <a:solidFill>
            <a:srgbClr val="6C2B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9156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KONSEP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Itu Pronoun?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6126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6C2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Pronoun</a:t>
            </a:r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(kata ganti) adalah kata yang dipakai buat </a:t>
            </a:r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menggantikan noun</a:t>
            </a:r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(kata benda / orang) supaya kalimat nggak keulang-ulang dan kedengeran lebih natural.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612648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4DCFF"/>
            </a:solidFill>
            <a:prstDash val="solid"/>
          </a:ln>
          <a:effectLst>
            <a:outerShdw sx="100000" sy="100000" kx="0" ky="0" algn="bl" rotWithShape="0" blurRad="127000" dist="38100" dir="5400000">
              <a:srgbClr val="2A1B57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23544" y="4032504"/>
            <a:ext cx="621792" cy="621792"/>
          </a:xfrm>
          <a:prstGeom prst="ellipse">
            <a:avLst/>
          </a:prstGeom>
          <a:solidFill>
            <a:srgbClr val="D4FF3E"/>
          </a:solidFill>
          <a:ln/>
        </p:spPr>
      </p:sp>
      <p:sp>
        <p:nvSpPr>
          <p:cNvPr id="8" name="Text 6"/>
          <p:cNvSpPr/>
          <p:nvPr/>
        </p:nvSpPr>
        <p:spPr>
          <a:xfrm>
            <a:off x="923544" y="403250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737360" y="37947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i="1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pronoun: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“Sarah loves Sarah's cat. Sarah feeds Sarah's cat every day.”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737360" y="46177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i="1" dirty="0">
                <a:solidFill>
                  <a:srgbClr val="FF3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pronoun:  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“Sarah loves her cat. She feeds it every day.”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086600" y="960120"/>
            <a:ext cx="4572000" cy="4892040"/>
          </a:xfrm>
          <a:prstGeom prst="roundRect">
            <a:avLst>
              <a:gd name="adj" fmla="val 4000"/>
            </a:avLst>
          </a:prstGeom>
          <a:solidFill>
            <a:srgbClr val="150A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07040" y="1234440"/>
            <a:ext cx="1463040" cy="146304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13" name="Text 11"/>
          <p:cNvSpPr/>
          <p:nvPr/>
        </p:nvSpPr>
        <p:spPr>
          <a:xfrm>
            <a:off x="7452360" y="1417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F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 → pronoun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452360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89720" y="2057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7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555480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3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/ her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5236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89720" y="2834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7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55548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3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52360" y="3611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and Bram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89720" y="36118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7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555480" y="3611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3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52360" y="4389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and I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89720" y="4389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7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555480" y="4389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3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PRONOUN  //  ENGLISH GRAMMAR SKILLS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C2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125980" cy="384048"/>
          </a:xfrm>
          <a:prstGeom prst="roundRect">
            <a:avLst>
              <a:gd name="adj" fmla="val 50000"/>
            </a:avLst>
          </a:prstGeom>
          <a:solidFill>
            <a:srgbClr val="FF3EA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125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OVERVIEW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Jenis Pronoun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Tiap jenis punya fungsi beda — kita bahas satu-satu di slide berikutnya.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2395728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4DCFF"/>
            </a:solidFill>
            <a:prstDash val="solid"/>
          </a:ln>
          <a:effectLst>
            <a:outerShdw sx="100000" sy="100000" kx="0" ky="0" algn="bl" rotWithShape="0" blurRad="101600" dist="38100" dir="5400000">
              <a:srgbClr val="2A1B57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72184" y="2496312"/>
            <a:ext cx="548640" cy="54864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8" name="Text 6"/>
          <p:cNvSpPr/>
          <p:nvPr/>
        </p:nvSpPr>
        <p:spPr>
          <a:xfrm>
            <a:off x="1472184" y="2496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" y="3154680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58368" y="3538728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I, you, he, they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27248" y="2240280"/>
            <a:ext cx="2395728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4DCFF"/>
            </a:solidFill>
            <a:prstDash val="solid"/>
          </a:ln>
          <a:effectLst>
            <a:outerShdw sx="100000" sy="100000" kx="0" ky="0" algn="bl" rotWithShape="0" blurRad="101600" dist="38100" dir="5400000">
              <a:srgbClr val="2A1B57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050792" y="2496312"/>
            <a:ext cx="548640" cy="548640"/>
          </a:xfrm>
          <a:prstGeom prst="ellipse">
            <a:avLst/>
          </a:prstGeom>
          <a:solidFill>
            <a:srgbClr val="FF3EA5"/>
          </a:solidFill>
          <a:ln/>
        </p:spPr>
      </p:sp>
      <p:sp>
        <p:nvSpPr>
          <p:cNvPr id="13" name="Text 11"/>
          <p:cNvSpPr/>
          <p:nvPr/>
        </p:nvSpPr>
        <p:spPr>
          <a:xfrm>
            <a:off x="4050792" y="2496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36976" y="3154680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Possessive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236976" y="3538728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mine, yours, his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705856" y="2240280"/>
            <a:ext cx="2395728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4DCFF"/>
            </a:solidFill>
            <a:prstDash val="solid"/>
          </a:ln>
          <a:effectLst>
            <a:outerShdw sx="100000" sy="100000" kx="0" ky="0" algn="bl" rotWithShape="0" blurRad="101600" dist="38100" dir="5400000">
              <a:srgbClr val="2A1B57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29400" y="2496312"/>
            <a:ext cx="548640" cy="548640"/>
          </a:xfrm>
          <a:prstGeom prst="ellipse">
            <a:avLst/>
          </a:prstGeom>
          <a:solidFill>
            <a:srgbClr val="150A2E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2496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815584" y="3154680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Reflexive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815584" y="3538728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myself, yourself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284464" y="2240280"/>
            <a:ext cx="2395728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4DCFF"/>
            </a:solidFill>
            <a:prstDash val="solid"/>
          </a:ln>
          <a:effectLst>
            <a:outerShdw sx="100000" sy="100000" kx="0" ky="0" algn="bl" rotWithShape="0" blurRad="101600" dist="38100" dir="5400000">
              <a:srgbClr val="2A1B57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208008" y="2496312"/>
            <a:ext cx="548640" cy="54864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23" name="Text 21"/>
          <p:cNvSpPr/>
          <p:nvPr/>
        </p:nvSpPr>
        <p:spPr>
          <a:xfrm>
            <a:off x="9208008" y="2496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394192" y="3154680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Demonstrative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394192" y="3538728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this, that, these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837944" y="4160520"/>
            <a:ext cx="2395728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4DCFF"/>
            </a:solidFill>
            <a:prstDash val="solid"/>
          </a:ln>
          <a:effectLst>
            <a:outerShdw sx="100000" sy="100000" kx="0" ky="0" algn="bl" rotWithShape="0" blurRad="101600" dist="38100" dir="5400000">
              <a:srgbClr val="2A1B57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61488" y="4416552"/>
            <a:ext cx="548640" cy="548640"/>
          </a:xfrm>
          <a:prstGeom prst="ellipse">
            <a:avLst/>
          </a:prstGeom>
          <a:solidFill>
            <a:srgbClr val="FF3EA5"/>
          </a:solidFill>
          <a:ln/>
        </p:spPr>
      </p:sp>
      <p:sp>
        <p:nvSpPr>
          <p:cNvPr id="28" name="Text 26"/>
          <p:cNvSpPr/>
          <p:nvPr/>
        </p:nvSpPr>
        <p:spPr>
          <a:xfrm>
            <a:off x="2761488" y="4416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947672" y="5074920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Interrogative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1947672" y="5458968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who, what, which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416552" y="4160520"/>
            <a:ext cx="2395728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4DCFF"/>
            </a:solidFill>
            <a:prstDash val="solid"/>
          </a:ln>
          <a:effectLst>
            <a:outerShdw sx="100000" sy="100000" kx="0" ky="0" algn="bl" rotWithShape="0" blurRad="101600" dist="38100" dir="5400000">
              <a:srgbClr val="2A1B57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340096" y="4416552"/>
            <a:ext cx="548640" cy="548640"/>
          </a:xfrm>
          <a:prstGeom prst="ellipse">
            <a:avLst/>
          </a:prstGeom>
          <a:solidFill>
            <a:srgbClr val="150A2E"/>
          </a:solidFill>
          <a:ln/>
        </p:spPr>
      </p:sp>
      <p:sp>
        <p:nvSpPr>
          <p:cNvPr id="33" name="Text 31"/>
          <p:cNvSpPr/>
          <p:nvPr/>
        </p:nvSpPr>
        <p:spPr>
          <a:xfrm>
            <a:off x="5340096" y="4416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526280" y="5074920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4526280" y="5458968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who, which, that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995160" y="4160520"/>
            <a:ext cx="2395728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4DCFF"/>
            </a:solidFill>
            <a:prstDash val="solid"/>
          </a:ln>
          <a:effectLst>
            <a:outerShdw sx="100000" sy="100000" kx="0" ky="0" algn="bl" rotWithShape="0" blurRad="101600" dist="38100" dir="5400000">
              <a:srgbClr val="2A1B57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918704" y="4416552"/>
            <a:ext cx="548640" cy="54864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38" name="Text 36"/>
          <p:cNvSpPr/>
          <p:nvPr/>
        </p:nvSpPr>
        <p:spPr>
          <a:xfrm>
            <a:off x="7918704" y="4416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104888" y="5074920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Indefinite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7104888" y="5458968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someone, everything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PRONOUN  //  ENGLISH GRAMMAR SKILLS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C2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915668" cy="384048"/>
          </a:xfrm>
          <a:prstGeom prst="roundRect">
            <a:avLst>
              <a:gd name="adj" fmla="val 50000"/>
            </a:avLst>
          </a:prstGeom>
          <a:solidFill>
            <a:srgbClr val="6C2B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9156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TYPE 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Pronouns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Gantiin orang/benda yang ngomong (1st person), diajak ngomong (2nd), atau dibahas (3rd).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6675120" cy="3931920"/>
        </p:xfrm>
        <a:graphic>
          <a:graphicData uri="http://schemas.openxmlformats.org/drawingml/2006/table">
            <a:tbl>
              <a:tblPr/>
              <a:tblGrid>
                <a:gridCol w="2651760"/>
                <a:gridCol w="201168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Person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B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Subject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B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Object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BD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030"/>
                          </a:solidFill>
                        </a:rPr>
                        <a:t>1st (aku)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030"/>
                          </a:solidFill>
                        </a:rPr>
                        <a:t>I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030"/>
                          </a:solidFill>
                        </a:rPr>
                        <a:t>me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030"/>
                          </a:solidFill>
                        </a:rPr>
                        <a:t>2nd (kamu)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030"/>
                          </a:solidFill>
                        </a:rPr>
                        <a:t>you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030"/>
                          </a:solidFill>
                        </a:rPr>
                        <a:t>you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030"/>
                          </a:solidFill>
                        </a:rPr>
                        <a:t>3rd (dia, cowok)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030"/>
                          </a:solidFill>
                        </a:rPr>
                        <a:t>he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030"/>
                          </a:solidFill>
                        </a:rPr>
                        <a:t>him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030"/>
                          </a:solidFill>
                        </a:rPr>
                        <a:t>3rd (dia, cewek)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030"/>
                          </a:solidFill>
                        </a:rPr>
                        <a:t>she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030"/>
                          </a:solidFill>
                        </a:rPr>
                        <a:t>her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030"/>
                          </a:solidFill>
                        </a:rPr>
                        <a:t>3rd (benda)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030"/>
                          </a:solidFill>
                        </a:rPr>
                        <a:t>it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030"/>
                          </a:solidFill>
                        </a:rPr>
                        <a:t>it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030"/>
                          </a:solidFill>
                        </a:rPr>
                        <a:t>1st plural (kami/kita)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030"/>
                          </a:solidFill>
                        </a:rPr>
                        <a:t>we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030"/>
                          </a:solidFill>
                        </a:rPr>
                        <a:t>us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030"/>
                          </a:solidFill>
                        </a:rPr>
                        <a:t>3rd plural (mereka)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030"/>
                          </a:solidFill>
                        </a:rPr>
                        <a:t>they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030"/>
                          </a:solidFill>
                        </a:rPr>
                        <a:t>them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543800" y="2194560"/>
            <a:ext cx="4114800" cy="3931920"/>
          </a:xfrm>
          <a:prstGeom prst="roundRect">
            <a:avLst>
              <a:gd name="adj" fmla="val 3721"/>
            </a:avLst>
          </a:prstGeom>
          <a:solidFill>
            <a:srgbClr val="150A2E"/>
          </a:solidFill>
          <a:ln/>
        </p:spPr>
      </p:sp>
      <p:sp>
        <p:nvSpPr>
          <p:cNvPr id="8" name="Text 5"/>
          <p:cNvSpPr/>
          <p:nvPr/>
        </p:nvSpPr>
        <p:spPr>
          <a:xfrm>
            <a:off x="7818120" y="2423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F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KAPAN DIPAKAI?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818120" y="2880360"/>
            <a:ext cx="3566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3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pelaku, di depan kata kerja.
</a:t>
            </a:r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6B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“She likes music.”
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3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penerima aksi, biasanya setelah kata kerja/preposisi.
</a:t>
            </a:r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6B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like her.”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PRONOUN  //  ENGLISH GRAMMAR SKILLS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C2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915668" cy="384048"/>
          </a:xfrm>
          <a:prstGeom prst="roundRect">
            <a:avLst>
              <a:gd name="adj" fmla="val 50000"/>
            </a:avLst>
          </a:prstGeom>
          <a:solidFill>
            <a:srgbClr val="FF3EA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9156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TYPE 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Possessive Pronouns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Nunjukin kepemilikan — tapi ada 2 bentuk yang sering ketuker!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7772400" cy="3931920"/>
        </p:xfrm>
        <a:graphic>
          <a:graphicData uri="http://schemas.openxmlformats.org/drawingml/2006/table">
            <a:tbl>
              <a:tblPr/>
              <a:tblGrid>
                <a:gridCol w="2011680"/>
                <a:gridCol w="2880360"/>
                <a:gridCol w="28803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Subject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Possessive Adjective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B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Possessive Pronoun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EA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030"/>
                          </a:solidFill>
                        </a:rPr>
                        <a:t>I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030"/>
                          </a:solidFill>
                        </a:rPr>
                        <a:t>my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030"/>
                          </a:solidFill>
                        </a:rPr>
                        <a:t>mine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030"/>
                          </a:solidFill>
                        </a:rPr>
                        <a:t>you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030"/>
                          </a:solidFill>
                        </a:rPr>
                        <a:t>your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030"/>
                          </a:solidFill>
                        </a:rPr>
                        <a:t>yours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030"/>
                          </a:solidFill>
                        </a:rPr>
                        <a:t>he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030"/>
                          </a:solidFill>
                        </a:rPr>
                        <a:t>his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030"/>
                          </a:solidFill>
                        </a:rPr>
                        <a:t>his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030"/>
                          </a:solidFill>
                        </a:rPr>
                        <a:t>she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030"/>
                          </a:solidFill>
                        </a:rPr>
                        <a:t>her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030"/>
                          </a:solidFill>
                        </a:rPr>
                        <a:t>hers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030"/>
                          </a:solidFill>
                        </a:rPr>
                        <a:t>it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030"/>
                          </a:solidFill>
                        </a:rPr>
                        <a:t>its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i="1" dirty="0">
                          <a:solidFill>
                            <a:srgbClr val="1B1030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030"/>
                          </a:solidFill>
                        </a:rPr>
                        <a:t>we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030"/>
                          </a:solidFill>
                        </a:rPr>
                        <a:t>our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030"/>
                          </a:solidFill>
                        </a:rPr>
                        <a:t>ours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030"/>
                          </a:solidFill>
                        </a:rPr>
                        <a:t>they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030"/>
                          </a:solidFill>
                        </a:rPr>
                        <a:t>their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030"/>
                          </a:solidFill>
                        </a:rPr>
                        <a:t>theirs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549640" y="2194560"/>
            <a:ext cx="3108960" cy="39319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4DCFF"/>
            </a:solidFill>
            <a:prstDash val="solid"/>
          </a:ln>
          <a:effectLst>
            <a:outerShdw sx="100000" sy="100000" kx="0" ky="0" algn="bl" rotWithShape="0" blurRad="101600" dist="38100" dir="5400000">
              <a:srgbClr val="2A1B57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938260" y="2446020"/>
            <a:ext cx="502920" cy="50292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9" name="Text 6"/>
          <p:cNvSpPr/>
          <p:nvPr/>
        </p:nvSpPr>
        <p:spPr>
          <a:xfrm>
            <a:off x="8938260" y="24460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823960" y="3063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2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noun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823960" y="3383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is my book.”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938260" y="3909060"/>
            <a:ext cx="502920" cy="502920"/>
          </a:xfrm>
          <a:prstGeom prst="ellipse">
            <a:avLst/>
          </a:prstGeom>
          <a:solidFill>
            <a:srgbClr val="FF3EA5"/>
          </a:solidFill>
          <a:ln/>
        </p:spPr>
      </p:sp>
      <p:sp>
        <p:nvSpPr>
          <p:cNvPr id="13" name="Text 10"/>
          <p:cNvSpPr/>
          <p:nvPr/>
        </p:nvSpPr>
        <p:spPr>
          <a:xfrm>
            <a:off x="8938260" y="39090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Ø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823960" y="4526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berdiri sendiri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823960" y="4846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book is mine.”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823960" y="5486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Ingat: “its” (possessive) beda sama “it's” (it is)!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PRONOUN  //  ENGLISH GRAMMAR SKILLS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C2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7120" y="457200"/>
            <a:ext cx="822960" cy="822960"/>
          </a:xfrm>
          <a:prstGeom prst="ellipse">
            <a:avLst/>
          </a:prstGeom>
          <a:solidFill>
            <a:srgbClr val="2A1B57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0" y="1554480"/>
            <a:ext cx="457200" cy="457200"/>
          </a:xfrm>
          <a:prstGeom prst="ellipse">
            <a:avLst/>
          </a:prstGeom>
          <a:solidFill>
            <a:srgbClr val="2A1B5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1915668" cy="384048"/>
          </a:xfrm>
          <a:prstGeom prst="roundRect">
            <a:avLst>
              <a:gd name="adj" fmla="val 50000"/>
            </a:avLst>
          </a:prstGeom>
          <a:solidFill>
            <a:srgbClr val="D4FF3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19156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TYPE 3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Reflexive Pronouns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57276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Dipakai kalau subjek dan objeknya orang yang sama — buat nunjuk diri sendiri.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2651760" cy="777240"/>
          </a:xfrm>
          <a:prstGeom prst="roundRect">
            <a:avLst>
              <a:gd name="adj" fmla="val 14118"/>
            </a:avLst>
          </a:prstGeom>
          <a:solidFill>
            <a:srgbClr val="1F1240"/>
          </a:solidFill>
          <a:ln w="15875">
            <a:solidFill>
              <a:srgbClr val="6C2B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313432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13232" y="2569464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F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myself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383280" y="2240280"/>
            <a:ext cx="2651760" cy="777240"/>
          </a:xfrm>
          <a:prstGeom prst="roundRect">
            <a:avLst>
              <a:gd name="adj" fmla="val 14118"/>
            </a:avLst>
          </a:prstGeom>
          <a:solidFill>
            <a:srgbClr val="1F1240"/>
          </a:solidFill>
          <a:ln w="15875">
            <a:solidFill>
              <a:srgbClr val="6C2B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7872" y="2313432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547872" y="2569464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F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yourself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17920" y="2240280"/>
            <a:ext cx="2651760" cy="777240"/>
          </a:xfrm>
          <a:prstGeom prst="roundRect">
            <a:avLst>
              <a:gd name="adj" fmla="val 14118"/>
            </a:avLst>
          </a:prstGeom>
          <a:solidFill>
            <a:srgbClr val="1F1240"/>
          </a:solidFill>
          <a:ln w="15875">
            <a:solidFill>
              <a:srgbClr val="6C2B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2313432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82512" y="2569464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F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himself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052560" y="2240280"/>
            <a:ext cx="2651760" cy="777240"/>
          </a:xfrm>
          <a:prstGeom prst="roundRect">
            <a:avLst>
              <a:gd name="adj" fmla="val 14118"/>
            </a:avLst>
          </a:prstGeom>
          <a:solidFill>
            <a:srgbClr val="1F1240"/>
          </a:solidFill>
          <a:ln w="15875">
            <a:solidFill>
              <a:srgbClr val="6C2B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17152" y="2313432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217152" y="2569464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F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herself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3182112"/>
            <a:ext cx="2651760" cy="777240"/>
          </a:xfrm>
          <a:prstGeom prst="roundRect">
            <a:avLst>
              <a:gd name="adj" fmla="val 14118"/>
            </a:avLst>
          </a:prstGeom>
          <a:solidFill>
            <a:srgbClr val="1F1240"/>
          </a:solidFill>
          <a:ln w="15875">
            <a:solidFill>
              <a:srgbClr val="6C2B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3255264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13232" y="3511296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F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itself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3383280" y="3182112"/>
            <a:ext cx="2651760" cy="777240"/>
          </a:xfrm>
          <a:prstGeom prst="roundRect">
            <a:avLst>
              <a:gd name="adj" fmla="val 14118"/>
            </a:avLst>
          </a:prstGeom>
          <a:solidFill>
            <a:srgbClr val="1F1240"/>
          </a:solidFill>
          <a:ln w="15875">
            <a:solidFill>
              <a:srgbClr val="6C2B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47872" y="3255264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547872" y="3511296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F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ourselves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217920" y="3182112"/>
            <a:ext cx="2651760" cy="777240"/>
          </a:xfrm>
          <a:prstGeom prst="roundRect">
            <a:avLst>
              <a:gd name="adj" fmla="val 14118"/>
            </a:avLst>
          </a:prstGeom>
          <a:solidFill>
            <a:srgbClr val="1F1240"/>
          </a:solidFill>
          <a:ln w="15875">
            <a:solidFill>
              <a:srgbClr val="6C2B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3255264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(pl.)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382512" y="3511296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F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yourselves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9052560" y="3182112"/>
            <a:ext cx="2651760" cy="777240"/>
          </a:xfrm>
          <a:prstGeom prst="roundRect">
            <a:avLst>
              <a:gd name="adj" fmla="val 14118"/>
            </a:avLst>
          </a:prstGeom>
          <a:solidFill>
            <a:srgbClr val="1F1240"/>
          </a:solidFill>
          <a:ln w="15875">
            <a:solidFill>
              <a:srgbClr val="6C2B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17152" y="3255264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217152" y="3511296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F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themselves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548640" y="4160520"/>
            <a:ext cx="11109960" cy="1554480"/>
          </a:xfrm>
          <a:prstGeom prst="roundRect">
            <a:avLst>
              <a:gd name="adj" fmla="val 9412"/>
            </a:avLst>
          </a:prstGeom>
          <a:solidFill>
            <a:srgbClr val="1F1240"/>
          </a:solidFill>
          <a:ln w="15875">
            <a:solidFill>
              <a:srgbClr val="6C2B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4343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D4F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 </a:t>
            </a:r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“She made this cake herself.”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6B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(dia yang bikin sendiri, bukan orang lain)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F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 dipakai buat penekanan:  </a:t>
            </a:r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“I'll do it myself.”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PRONOUN  //  ENGLISH GRAMMAR SKILLS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915668" cy="384048"/>
          </a:xfrm>
          <a:prstGeom prst="roundRect">
            <a:avLst>
              <a:gd name="adj" fmla="val 50000"/>
            </a:avLst>
          </a:prstGeom>
          <a:solidFill>
            <a:srgbClr val="6C2B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9156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TYPE 4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Demonstrative Pronouns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Nunjuk benda/orang berdasarkan jarak (dekat/jauh) dan jumlah (tunggal/jamak).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5486400" cy="187452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12700">
            <a:solidFill>
              <a:srgbClr val="E4DCFF"/>
            </a:solidFill>
            <a:prstDash val="solid"/>
          </a:ln>
          <a:effectLst>
            <a:outerShdw sx="100000" sy="100000" kx="0" ky="0" algn="bl" rotWithShape="0" blurRad="101600" dist="38100" dir="5400000">
              <a:srgbClr val="2A1B57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44144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C2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914400" y="3081528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F7F4F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0815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dekat · tunggal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35387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is my phone.”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2240280"/>
            <a:ext cx="5486400" cy="187452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12700">
            <a:solidFill>
              <a:srgbClr val="E4DCFF"/>
            </a:solidFill>
            <a:prstDash val="solid"/>
          </a:ln>
          <a:effectLst>
            <a:outerShdw sx="100000" sy="100000" kx="0" ky="0" algn="bl" rotWithShape="0" blurRad="101600" dist="38100" dir="5400000">
              <a:srgbClr val="2A1B57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29400" y="244144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3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6629400" y="3081528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F7F4FF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30815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dekat · jamak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629400" y="35387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“These are my keys.”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5486400" cy="187452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12700">
            <a:solidFill>
              <a:srgbClr val="E4DCFF"/>
            </a:solidFill>
            <a:prstDash val="solid"/>
          </a:ln>
          <a:effectLst>
            <a:outerShdw sx="100000" sy="100000" kx="0" ky="0" algn="bl" rotWithShape="0" blurRad="101600" dist="38100" dir="5400000">
              <a:srgbClr val="2A1B57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454456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3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914400" y="5184648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F7F4FF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1846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jauh · tunggal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14400" y="56418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 is her house.”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63640" y="4343400"/>
            <a:ext cx="5486400" cy="187452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12700">
            <a:solidFill>
              <a:srgbClr val="E4DCFF"/>
            </a:solidFill>
            <a:prstDash val="solid"/>
          </a:ln>
          <a:effectLst>
            <a:outerShdw sx="100000" sy="100000" kx="0" ky="0" algn="bl" rotWithShape="0" blurRad="101600" dist="38100" dir="5400000">
              <a:srgbClr val="2A1B57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29400" y="454456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C2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those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6629400" y="5184648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F7F4FF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51846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jauh · jamak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629400" y="56418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“Those are new shoes.”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PRONOUN  //  ENGLISH GRAMMAR SKILLS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C2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915668" cy="384048"/>
          </a:xfrm>
          <a:prstGeom prst="roundRect">
            <a:avLst>
              <a:gd name="adj" fmla="val 50000"/>
            </a:avLst>
          </a:prstGeom>
          <a:solidFill>
            <a:srgbClr val="FF3EA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9156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TYPE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Interrogative Pronouns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Dipakai buat nanya — biasanya jadi kata tanya di awal kalimat.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110996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solidFill>
              <a:srgbClr val="E4DC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2267712"/>
            <a:ext cx="438912" cy="438912"/>
          </a:xfrm>
          <a:prstGeom prst="ellipse">
            <a:avLst/>
          </a:prstGeom>
          <a:solidFill>
            <a:srgbClr val="D4FF3E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22677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08760" y="2148840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3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017520" y="2148840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nanya orang (subjek)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0" y="2148840"/>
            <a:ext cx="5029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called you?”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2935224"/>
            <a:ext cx="1110996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solidFill>
              <a:srgbClr val="E4DC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" y="3054096"/>
            <a:ext cx="438912" cy="438912"/>
          </a:xfrm>
          <a:prstGeom prst="ellipse">
            <a:avLst/>
          </a:prstGeom>
          <a:solidFill>
            <a:srgbClr val="D4FF3E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" y="30540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2935224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3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Whom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017520" y="2935224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nanya orang (objek, formal)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0" y="2935224"/>
            <a:ext cx="5029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“Whom did you meet?”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3721608"/>
            <a:ext cx="1110996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solidFill>
              <a:srgbClr val="E4DC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3840480"/>
            <a:ext cx="438912" cy="438912"/>
          </a:xfrm>
          <a:prstGeom prst="ellipse">
            <a:avLst/>
          </a:prstGeom>
          <a:solidFill>
            <a:srgbClr val="D4FF3E"/>
          </a:solidFill>
          <a:ln/>
        </p:spPr>
      </p:sp>
      <p:sp>
        <p:nvSpPr>
          <p:cNvPr id="20" name="Text 18"/>
          <p:cNvSpPr/>
          <p:nvPr/>
        </p:nvSpPr>
        <p:spPr>
          <a:xfrm>
            <a:off x="877824" y="3840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508760" y="3721608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3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Whose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017520" y="3721608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nanya kepemilikan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0" y="3721608"/>
            <a:ext cx="5029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“Whose bag is this?”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4507992"/>
            <a:ext cx="1110996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solidFill>
              <a:srgbClr val="E4DC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" y="4626864"/>
            <a:ext cx="438912" cy="438912"/>
          </a:xfrm>
          <a:prstGeom prst="ellipse">
            <a:avLst/>
          </a:prstGeom>
          <a:solidFill>
            <a:srgbClr val="D4FF3E"/>
          </a:solidFill>
          <a:ln/>
        </p:spPr>
      </p:sp>
      <p:sp>
        <p:nvSpPr>
          <p:cNvPr id="26" name="Text 24"/>
          <p:cNvSpPr/>
          <p:nvPr/>
        </p:nvSpPr>
        <p:spPr>
          <a:xfrm>
            <a:off x="877824" y="46268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508760" y="4507992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3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3017520" y="4507992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nanya pilihan dari beberapa hal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00800" y="4507992"/>
            <a:ext cx="5029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one do you want?”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48640" y="5294376"/>
            <a:ext cx="1110996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solidFill>
              <a:srgbClr val="E4DC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7824" y="5413248"/>
            <a:ext cx="438912" cy="438912"/>
          </a:xfrm>
          <a:prstGeom prst="ellipse">
            <a:avLst/>
          </a:prstGeom>
          <a:solidFill>
            <a:srgbClr val="D4FF3E"/>
          </a:solidFill>
          <a:ln/>
        </p:spPr>
      </p:sp>
      <p:sp>
        <p:nvSpPr>
          <p:cNvPr id="32" name="Text 30"/>
          <p:cNvSpPr/>
          <p:nvPr/>
        </p:nvSpPr>
        <p:spPr>
          <a:xfrm>
            <a:off x="877824" y="5413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1508760" y="5294376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3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3017520" y="5294376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nanya benda/informasi umum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400800" y="5294376"/>
            <a:ext cx="5029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your name?”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PRONOUN  //  ENGLISH GRAMMAR SKILLS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C2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7120" y="457200"/>
            <a:ext cx="822960" cy="822960"/>
          </a:xfrm>
          <a:prstGeom prst="ellipse">
            <a:avLst/>
          </a:prstGeom>
          <a:solidFill>
            <a:srgbClr val="2A1B57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0" y="1554480"/>
            <a:ext cx="457200" cy="457200"/>
          </a:xfrm>
          <a:prstGeom prst="ellipse">
            <a:avLst/>
          </a:prstGeom>
          <a:solidFill>
            <a:srgbClr val="2A1B5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1915668" cy="384048"/>
          </a:xfrm>
          <a:prstGeom prst="roundRect">
            <a:avLst>
              <a:gd name="adj" fmla="val 50000"/>
            </a:avLst>
          </a:prstGeom>
          <a:solidFill>
            <a:srgbClr val="D4FF3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19156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TYPE 6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 Pronouns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57276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Nyambungin anak kalimat (clause) buat kasih info tambahan soal noun sebelumnya.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11109960" cy="676656"/>
          </a:xfrm>
          <a:prstGeom prst="roundRect">
            <a:avLst>
              <a:gd name="adj" fmla="val 16216"/>
            </a:avLst>
          </a:prstGeom>
          <a:solidFill>
            <a:srgbClr val="1F1240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48840"/>
            <a:ext cx="1280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F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148840" y="2148840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B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orang (subjek)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2148840"/>
            <a:ext cx="6492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girl who sang was amazing.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2935224"/>
            <a:ext cx="11109960" cy="676656"/>
          </a:xfrm>
          <a:prstGeom prst="roundRect">
            <a:avLst>
              <a:gd name="adj" fmla="val 16216"/>
            </a:avLst>
          </a:prstGeom>
          <a:solidFill>
            <a:srgbClr val="1F1240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935224"/>
            <a:ext cx="1280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F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whom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148840" y="2935224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B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orang (objek)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935224"/>
            <a:ext cx="6492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 whom I met is a doctor.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721608"/>
            <a:ext cx="11109960" cy="676656"/>
          </a:xfrm>
          <a:prstGeom prst="roundRect">
            <a:avLst>
              <a:gd name="adj" fmla="val 16216"/>
            </a:avLst>
          </a:prstGeom>
          <a:solidFill>
            <a:srgbClr val="1F1240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21608"/>
            <a:ext cx="1280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F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whose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148840" y="3721608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B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kepemilikan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3721608"/>
            <a:ext cx="6492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boy whose dog got lost.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507992"/>
            <a:ext cx="11109960" cy="676656"/>
          </a:xfrm>
          <a:prstGeom prst="roundRect">
            <a:avLst>
              <a:gd name="adj" fmla="val 16216"/>
            </a:avLst>
          </a:prstGeom>
          <a:solidFill>
            <a:srgbClr val="1F1240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507992"/>
            <a:ext cx="1280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F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2148840" y="4507992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B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benda/hewan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4507992"/>
            <a:ext cx="6492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movie which we watched was great.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5294376"/>
            <a:ext cx="11109960" cy="676656"/>
          </a:xfrm>
          <a:prstGeom prst="roundRect">
            <a:avLst>
              <a:gd name="adj" fmla="val 16216"/>
            </a:avLst>
          </a:prstGeom>
          <a:solidFill>
            <a:srgbClr val="1F1240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294376"/>
            <a:ext cx="1280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F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2148840" y="5294376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B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orang/benda (informal)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5294376"/>
            <a:ext cx="6492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song that I love.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PRONOUN  //  ENGLISH GRAMMAR SKILLS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915668" cy="384048"/>
          </a:xfrm>
          <a:prstGeom prst="roundRect">
            <a:avLst>
              <a:gd name="adj" fmla="val 50000"/>
            </a:avLst>
          </a:prstGeom>
          <a:solidFill>
            <a:srgbClr val="6C2B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9156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TYPE 7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Indefinite Pronouns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Nunjuk orang/benda yang nggak spesifik — nggak tau atau nggak perlu disebut jelas.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3611880" cy="3657600"/>
          </a:xfrm>
          <a:prstGeom prst="roundRect">
            <a:avLst>
              <a:gd name="adj" fmla="val 4051"/>
            </a:avLst>
          </a:prstGeom>
          <a:solidFill>
            <a:srgbClr val="FFFFFF"/>
          </a:solidFill>
          <a:ln w="12700">
            <a:solidFill>
              <a:srgbClr val="E4DCFF"/>
            </a:solidFill>
            <a:prstDash val="solid"/>
          </a:ln>
          <a:effectLst>
            <a:outerShdw sx="100000" sy="100000" kx="0" ky="0" algn="bl" rotWithShape="0" blurRad="101600" dist="38100" dir="5400000">
              <a:srgbClr val="2A1B57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514600"/>
            <a:ext cx="3063240" cy="411480"/>
          </a:xfrm>
          <a:prstGeom prst="roundRect">
            <a:avLst>
              <a:gd name="adj" fmla="val 50000"/>
            </a:avLst>
          </a:prstGeom>
          <a:solidFill>
            <a:srgbClr val="6C2BD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5146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Singular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06324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someone, somebody, something, anyone, anybody, anything, everyone, everybody, everything, no one, nobody, nothing, each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297680" y="2240280"/>
            <a:ext cx="3611880" cy="3657600"/>
          </a:xfrm>
          <a:prstGeom prst="roundRect">
            <a:avLst>
              <a:gd name="adj" fmla="val 4051"/>
            </a:avLst>
          </a:prstGeom>
          <a:solidFill>
            <a:srgbClr val="FFFFFF"/>
          </a:solidFill>
          <a:ln w="12700">
            <a:solidFill>
              <a:srgbClr val="E4DCFF"/>
            </a:solidFill>
            <a:prstDash val="solid"/>
          </a:ln>
          <a:effectLst>
            <a:outerShdw sx="100000" sy="100000" kx="0" ky="0" algn="bl" rotWithShape="0" blurRad="101600" dist="38100" dir="5400000">
              <a:srgbClr val="2A1B57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2514600"/>
            <a:ext cx="3063240" cy="411480"/>
          </a:xfrm>
          <a:prstGeom prst="roundRect">
            <a:avLst>
              <a:gd name="adj" fmla="val 50000"/>
            </a:avLst>
          </a:prstGeom>
          <a:solidFill>
            <a:srgbClr val="FF3EA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5146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306324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both, few, many, others, several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046720" y="2240280"/>
            <a:ext cx="3611880" cy="3657600"/>
          </a:xfrm>
          <a:prstGeom prst="roundRect">
            <a:avLst>
              <a:gd name="adj" fmla="val 4051"/>
            </a:avLst>
          </a:prstGeom>
          <a:solidFill>
            <a:srgbClr val="FFFFFF"/>
          </a:solidFill>
          <a:ln w="12700">
            <a:solidFill>
              <a:srgbClr val="E4DCFF"/>
            </a:solidFill>
            <a:prstDash val="solid"/>
          </a:ln>
          <a:effectLst>
            <a:outerShdw sx="100000" sy="100000" kx="0" ky="0" algn="bl" rotWithShape="0" blurRad="101600" dist="38100" dir="5400000">
              <a:srgbClr val="2A1B57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2514600"/>
            <a:ext cx="3063240" cy="411480"/>
          </a:xfrm>
          <a:prstGeom prst="roundRect">
            <a:avLst>
              <a:gd name="adj" fmla="val 50000"/>
            </a:avLst>
          </a:prstGeom>
          <a:solidFill>
            <a:srgbClr val="150A2E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5146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(situasional)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66760" y="306324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all, some, most, none, any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6035040"/>
            <a:ext cx="11109960" cy="457200"/>
          </a:xfrm>
          <a:prstGeom prst="roundRect">
            <a:avLst>
              <a:gd name="adj" fmla="val 20000"/>
            </a:avLst>
          </a:prstGeom>
          <a:solidFill>
            <a:srgbClr val="EFE9FF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6035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C2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“Someone left this here.”  /  “I don't want anything.”  /  “Everyone is welcome.”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PRONOUN  //  ENGLISH GRAMMAR SKILLS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C2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D4FF3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RECAP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Cheat Sheet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jenis pronoun dalam satu tabel — simpen buat contekan!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109960" cy="4160520"/>
        </p:xfrm>
        <a:graphic>
          <a:graphicData uri="http://schemas.openxmlformats.org/drawingml/2006/table">
            <a:tbl>
              <a:tblPr/>
              <a:tblGrid>
                <a:gridCol w="2148840"/>
                <a:gridCol w="5852160"/>
                <a:gridCol w="3108960"/>
              </a:tblGrid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030"/>
                          </a:solidFill>
                        </a:rPr>
                        <a:t>Type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030"/>
                          </a:solidFill>
                        </a:rPr>
                        <a:t>Contoh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030"/>
                          </a:solidFill>
                        </a:rPr>
                        <a:t>Fungsi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F3E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Personal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I, you, he, she, it, we, they / me, him, her...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Ganti orang/benda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Possessive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1A5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mine, yours, his, hers, ours, theirs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1A5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Nunjuk kepemilikan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1A52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Reflexive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myself, yourself, themselves...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Subjek = objek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Demonstrative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1A5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this, that, these, those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1A5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Nunjuk jarak &amp; jumlah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1A52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Interrogative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who, whom, whose, which, what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Buat nanya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Relative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1A5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who, whom, whose, which, that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1A5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Nyambung klausa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1A52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Indefinite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someone, everything, few, all...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Nggak spesifik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PRONOUN  //  ENGLISH GRAMMAR SKILLS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4572000" cy="457200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389120"/>
            <a:ext cx="3291840" cy="3291840"/>
          </a:xfrm>
          <a:prstGeom prst="ellipse">
            <a:avLst/>
          </a:prstGeom>
          <a:solidFill>
            <a:srgbClr val="FF3EA5"/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0" y="640080"/>
            <a:ext cx="146304" cy="146304"/>
          </a:xfrm>
          <a:prstGeom prst="ellipse">
            <a:avLst/>
          </a:prstGeom>
          <a:solidFill>
            <a:srgbClr val="3A2666"/>
          </a:solidFill>
          <a:ln/>
        </p:spPr>
      </p:sp>
      <p:sp>
        <p:nvSpPr>
          <p:cNvPr id="5" name="Shape 3"/>
          <p:cNvSpPr/>
          <p:nvPr/>
        </p:nvSpPr>
        <p:spPr>
          <a:xfrm>
            <a:off x="11338560" y="1188720"/>
            <a:ext cx="91440" cy="91440"/>
          </a:xfrm>
          <a:prstGeom prst="ellipse">
            <a:avLst/>
          </a:prstGeom>
          <a:solidFill>
            <a:srgbClr val="3A2666"/>
          </a:solidFill>
          <a:ln/>
        </p:spPr>
      </p:sp>
      <p:sp>
        <p:nvSpPr>
          <p:cNvPr id="6" name="Shape 4"/>
          <p:cNvSpPr/>
          <p:nvPr/>
        </p:nvSpPr>
        <p:spPr>
          <a:xfrm>
            <a:off x="4343400" y="1005840"/>
            <a:ext cx="3474720" cy="411480"/>
          </a:xfrm>
          <a:prstGeom prst="roundRect">
            <a:avLst>
              <a:gd name="adj" fmla="val 50000"/>
            </a:avLst>
          </a:prstGeom>
          <a:solidFill>
            <a:srgbClr val="D4FF3E"/>
          </a:solidFill>
          <a:ln/>
        </p:spPr>
      </p:sp>
      <p:sp>
        <p:nvSpPr>
          <p:cNvPr id="7" name="Text 5"/>
          <p:cNvSpPr/>
          <p:nvPr/>
        </p:nvSpPr>
        <p:spPr>
          <a:xfrm>
            <a:off x="4343400" y="10058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TIME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160020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TURN!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1828800" y="27889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6B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Lengkapi kalimat ini pakai pronoun yang tepat: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423160" y="3337560"/>
            <a:ext cx="7315200" cy="1508760"/>
          </a:xfrm>
          <a:prstGeom prst="roundRect">
            <a:avLst>
              <a:gd name="adj" fmla="val 9697"/>
            </a:avLst>
          </a:prstGeom>
          <a:solidFill>
            <a:srgbClr val="1F1240"/>
          </a:solidFill>
          <a:ln w="15875">
            <a:solidFill>
              <a:srgbClr val="6C2B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3337560"/>
            <a:ext cx="6858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this </a:t>
            </a:r>
            <a:pPr algn="ctr" indent="0" marL="0">
              <a:buNone/>
            </a:pPr>
            <a:r>
              <a:rPr lang="en-US" sz="2000" b="1" u="sng" dirty="0">
                <a:solidFill>
                  <a:srgbClr val="D4F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</a:t>
            </a:r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bag? No, it's </a:t>
            </a:r>
            <a:pPr algn="ctr" indent="0" marL="0">
              <a:buNone/>
            </a:pPr>
            <a:r>
              <a:rPr lang="en-US" sz="2000" b="1" u="sng" dirty="0">
                <a:solidFill>
                  <a:srgbClr val="D4F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</a:t>
            </a:r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.”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828800" y="49834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(hint: possessive adjective + possessive pronoun)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PRONOUN  //  ENGLISH GRAMMAR SKILLS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2026-08-07T01:00:39Z</dcterms:created>
  <dcterms:modified xsi:type="dcterms:W3CDTF">2026-08-07T01:00:40Z</dcterms:modified>
</cp:coreProperties>
</file>
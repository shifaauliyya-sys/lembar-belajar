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B4F6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E93A6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0E93A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icon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SERIES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Menyatakan Rencana Masa Depan dalam Bahasa Inggris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251960"/>
            <a:ext cx="1828800" cy="0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709160"/>
            <a:ext cx="704088" cy="457200"/>
          </a:xfrm>
          <a:prstGeom prst="roundRect">
            <a:avLst>
              <a:gd name="adj" fmla="val 50000"/>
            </a:avLst>
          </a:prstGeom>
          <a:solidFill>
            <a:srgbClr val="0B4F6C">
              <a:alpha val="8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70916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755648" y="4709160"/>
            <a:ext cx="1088136" cy="457200"/>
          </a:xfrm>
          <a:prstGeom prst="roundRect">
            <a:avLst>
              <a:gd name="adj" fmla="val 50000"/>
            </a:avLst>
          </a:prstGeom>
          <a:solidFill>
            <a:srgbClr val="0B4F6C">
              <a:alpha val="8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55648" y="47091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072384" y="470916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0B4F6C">
              <a:alpha val="8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72384" y="4709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49240" y="470916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0B4F6C">
              <a:alpha val="8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49240" y="4709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Hope to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Ungkapan Rencana Masa Depan?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Inggris memiliki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cara berbeda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untuk membicarakan sesuatu yang akan terjadi, tergantung pada seberapa pasti rencana itu dan kapan keputusan itu dibuat.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E93A6"/>
          </a:solidFill>
          <a:ln/>
        </p:spPr>
      </p:sp>
      <p:pic>
        <p:nvPicPr>
          <p:cNvPr id="6" name="Image 0" descr="icon_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3718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246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bentuknya bisa berupa will, going to, present continuous, atau ekspresi seperti plan to dan hope to.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733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KEPASTIAN RENCANA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2423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42316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9BD4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49440" y="2532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 / Prediksi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it will rain.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3566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0" y="356616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FB8C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49440" y="3675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diputuskan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study abroad.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4709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5120" y="470916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49440" y="4818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pasti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meeting her at 5 PM.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Utama Menyatakan Rencana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416052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B4F6C"/>
          </a:solidFill>
          <a:ln/>
        </p:spPr>
      </p:sp>
      <p:pic>
        <p:nvPicPr>
          <p:cNvPr id="6" name="Image 0" descr="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2059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9718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474720"/>
            <a:ext cx="2782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spontan, prediksi tanpa bukti kuat, atau janji.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846320"/>
            <a:ext cx="2782824" cy="777240"/>
          </a:xfrm>
          <a:prstGeom prst="roundRect">
            <a:avLst>
              <a:gd name="adj" fmla="val 9412"/>
            </a:avLst>
          </a:prstGeom>
          <a:solidFill>
            <a:srgbClr val="EE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4846320"/>
            <a:ext cx="2417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help you with that.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3024" y="1691640"/>
            <a:ext cx="3422904" cy="416052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3064" y="2011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E93A6"/>
          </a:solidFill>
          <a:ln/>
        </p:spPr>
      </p:sp>
      <p:pic>
        <p:nvPicPr>
          <p:cNvPr id="13" name="Image 1" descr="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74" y="220599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3064" y="29718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to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03064" y="3474720"/>
            <a:ext cx="2782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yang sudah diputuskan sebelumnya, atau prediksi berdasarkan bukti.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03064" y="4846320"/>
            <a:ext cx="2782824" cy="777240"/>
          </a:xfrm>
          <a:prstGeom prst="roundRect">
            <a:avLst>
              <a:gd name="adj" fmla="val 9412"/>
            </a:avLst>
          </a:prstGeom>
          <a:solidFill>
            <a:srgbClr val="EEF6F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85944" y="4846320"/>
            <a:ext cx="2417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visit my parents this weekend.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25968" y="1691640"/>
            <a:ext cx="3422904" cy="416052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46008" y="2011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72B3D"/>
          </a:solidFill>
          <a:ln/>
        </p:spPr>
      </p:sp>
      <p:pic>
        <p:nvPicPr>
          <p:cNvPr id="20" name="Image 2" descr="icon_cal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18" y="220599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46008" y="29718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Continuous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8446008" y="3474720"/>
            <a:ext cx="2782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atau janji pasti di masa depan dekat, biasanya dengan waktu spesifik.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446008" y="4846320"/>
            <a:ext cx="2782824" cy="777240"/>
          </a:xfrm>
          <a:prstGeom prst="roundRect">
            <a:avLst>
              <a:gd name="adj" fmla="val 9412"/>
            </a:avLst>
          </a:prstGeom>
          <a:solidFill>
            <a:srgbClr val="EEF6F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28888" y="4846320"/>
            <a:ext cx="2417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flying to Tokyo next Monday.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0B4F6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3429000" cy="3657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45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06624"/>
            <a:ext cx="100584" cy="1005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spontan (saat bicara)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00984"/>
            <a:ext cx="100584" cy="1005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tanpa bukti kuat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895344"/>
            <a:ext cx="100584" cy="1005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/ tawaran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6360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phone is ringing. B: I'll answer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64592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645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0E9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2057400"/>
            <a:ext cx="3429000" cy="365760"/>
          </a:xfrm>
          <a:prstGeom prst="rect">
            <a:avLst/>
          </a:prstGeom>
          <a:solidFill>
            <a:srgbClr val="0E93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1645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to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0" y="2706624"/>
            <a:ext cx="100584" cy="100584"/>
          </a:xfrm>
          <a:prstGeom prst="ellipse">
            <a:avLst/>
          </a:prstGeom>
          <a:solidFill>
            <a:srgbClr val="0E93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yang sudah dipikirkan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300984"/>
            <a:ext cx="100584" cy="100584"/>
          </a:xfrm>
          <a:prstGeom prst="ellipse">
            <a:avLst/>
          </a:prstGeom>
          <a:solidFill>
            <a:srgbClr val="0E93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dengan bukti nyata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895344"/>
            <a:ext cx="100584" cy="100584"/>
          </a:xfrm>
          <a:prstGeom prst="ellipse">
            <a:avLst/>
          </a:prstGeom>
          <a:solidFill>
            <a:srgbClr val="0E93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Niat yang kuat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5262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46360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those clouds — it's going to rain.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55280" y="164592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164592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072B3D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2057400"/>
            <a:ext cx="3429000" cy="365760"/>
          </a:xfrm>
          <a:prstGeom prst="rect">
            <a:avLst/>
          </a:prstGeom>
          <a:solidFill>
            <a:srgbClr val="072B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1645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Continuous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229600" y="2706624"/>
            <a:ext cx="100584" cy="100584"/>
          </a:xfrm>
          <a:prstGeom prst="ellipse">
            <a:avLst/>
          </a:prstGeom>
          <a:solidFill>
            <a:srgbClr val="072B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582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/ janji yang sudah pasti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3300984"/>
            <a:ext cx="100584" cy="100584"/>
          </a:xfrm>
          <a:prstGeom prst="ellipse">
            <a:avLst/>
          </a:prstGeom>
          <a:solidFill>
            <a:srgbClr val="072B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5820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Biasanya + keterangan waktu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3895344"/>
            <a:ext cx="100584" cy="100584"/>
          </a:xfrm>
          <a:prstGeom prst="ellipse">
            <a:avLst/>
          </a:prstGeom>
          <a:solidFill>
            <a:srgbClr val="072B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582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Terasa sudah diatur / dikonfirmasi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5262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12480" y="46360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meeting the client at 9 AM tomorrow.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Ekspresi Lain untuk Rencana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icon_maps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110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6771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yang dipikirkan matang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6112" y="2651760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2770632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plan to open my own business.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1688" y="1691640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947672"/>
            <a:ext cx="548640" cy="548640"/>
          </a:xfrm>
          <a:prstGeom prst="ellipse">
            <a:avLst/>
          </a:prstGeom>
          <a:solidFill>
            <a:srgbClr val="0E93A6"/>
          </a:solidFill>
          <a:ln/>
        </p:spPr>
      </p:sp>
      <p:pic>
        <p:nvPicPr>
          <p:cNvPr id="13" name="Image 1" descr="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848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21808" y="19110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 to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21808" y="226771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niat yang cukup kuat (formal)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17720" y="2651760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2770632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intends to finish the project early.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83296" y="1691640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1947672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0" name="Image 2" descr="icon_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848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43416" y="19110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 to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9043416" y="226771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harapan di masa depan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339328" y="2651760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39328" y="2770632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hope to visit Japan next year.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4096512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6112" y="4352544"/>
            <a:ext cx="548640" cy="548640"/>
          </a:xfrm>
          <a:prstGeom prst="ellipse">
            <a:avLst/>
          </a:prstGeom>
          <a:solidFill>
            <a:srgbClr val="0E93A6"/>
          </a:solidFill>
          <a:ln/>
        </p:spPr>
      </p:sp>
      <p:pic>
        <p:nvPicPr>
          <p:cNvPr id="27" name="Image 3" descr="icon_id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4897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00200" y="431596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like to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1600200" y="467258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keinginan dengan nada sopan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96112" y="5056632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96112" y="517550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learn French.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361688" y="4096512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17720" y="4352544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4" name="Image 4" descr="icon_pla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48970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321808" y="431596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about to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5321808" y="467258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terjadi sangat segera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617720" y="5056632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617720" y="517550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is about to leave.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083296" y="4096512"/>
            <a:ext cx="34655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39328" y="4352544"/>
            <a:ext cx="548640" cy="548640"/>
          </a:xfrm>
          <a:prstGeom prst="ellipse">
            <a:avLst/>
          </a:prstGeom>
          <a:solidFill>
            <a:srgbClr val="0E93A6"/>
          </a:solidFill>
          <a:ln/>
        </p:spPr>
      </p:sp>
      <p:pic>
        <p:nvPicPr>
          <p:cNvPr id="41" name="Image 5" descr="icon_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489704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043416" y="431596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supposed to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9043416" y="467258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diharapkan/dijadwalkan terjadi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8339328" y="5056632"/>
            <a:ext cx="2953512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339328" y="517550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is supposed to start at 10.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Kesalahan Umum yang Sering Terjadi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going to travel next week.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travel next week.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4745736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gabungkan "will" dan "going to" dalam satu kalimat.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645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28816" y="1828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going to goes to Bali.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2377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going to go to Bali.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28816" y="2944368"/>
            <a:ext cx="4745736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3035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"going to" gunakan bare infinitive (V1), bukan V-s.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114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will to call you tonight.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63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will call you tonight.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230368"/>
            <a:ext cx="4745736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21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"Will" tidak pernah diikuti "to".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931920"/>
            <a:ext cx="529437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28816" y="411480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plan to study abroad.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466344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07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plan to study abroad.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28816" y="5230368"/>
            <a:ext cx="4745736" cy="0"/>
          </a:xfrm>
          <a:prstGeom prst="line">
            <a:avLst/>
          </a:prstGeom>
          <a:noFill/>
          <a:ln w="12700">
            <a:solidFill>
              <a:srgbClr val="E1EB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53218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"plan to" langsung, atau "am planning to".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0B4F6C">
              <a:alpha val="5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64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Cepat (Cheat Sheet)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691640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spontan, prediksi, janji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91640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5956" y="16916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to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09076" y="1691640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pasti / bukti kuat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5694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continuous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569464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yang sudah dikonfirmasi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1636" y="2569464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25694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609076" y="2569464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yang dipikirkan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4472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 to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447288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niat formal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3447288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5956" y="34472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 to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609076" y="3447288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harapan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25112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32511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like to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325112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keinginan sopan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1636" y="4325112"/>
            <a:ext cx="5317236" cy="713232"/>
          </a:xfrm>
          <a:prstGeom prst="roundRect">
            <a:avLst>
              <a:gd name="adj" fmla="val 11538"/>
            </a:avLst>
          </a:prstGeom>
          <a:solidFill>
            <a:srgbClr val="0B4F6C">
              <a:alpha val="75000"/>
            </a:srgbClr>
          </a:solidFill>
          <a:ln w="12700">
            <a:solidFill>
              <a:srgbClr val="1E7A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5956" y="432511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about to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609076" y="4325112"/>
            <a:ext cx="26654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segera terjadi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Writing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bagian latihan untuk melatih penggunaan ungkapan rencana masa depan dalam tulisan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B4F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Lengkapi Kalimat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titik-titik dengan will, going to, atau present continuous yang paling tepat sesuai konteks.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3024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7344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E9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734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57344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Ubah Ekspresi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57344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ulang kalimat menggunakan plan to, intend to, hope to, atau would like 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73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0288" y="2240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72B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028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Tulis Paragraf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365760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paragraf 5–7 kalimat tentang rencanamu 5 tahun ke depan dengan variasi ekspresi future plans.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3E2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559552"/>
            <a:ext cx="502920" cy="50292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22" name="Image 0" descr="icon_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685282"/>
            <a:ext cx="251460" cy="2514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63040" y="544068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Bonus: </a:t>
            </a:r>
            <a:pPr indent="0" marL="0">
              <a:buNone/>
            </a:pPr>
            <a:r>
              <a:rPr lang="en-US" sz="13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4 kalimat yang salah — tersedia di dokumen lengkap.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E93A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023360" cy="402336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2217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Wujudkan Rencanamu!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4160520"/>
            <a:ext cx="7616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sering berlatih, semakin natural kamu membicarakan masa depan dalam bahasa Inggris.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80076" y="5029200"/>
            <a:ext cx="1828800" cy="0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52578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· going to · present continuous · plan to · hope to · would like to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2026-09-02T11:29:00Z</dcterms:created>
  <dcterms:modified xsi:type="dcterms:W3CDTF">2026-09-02T11:29:00Z</dcterms:modified>
</cp:coreProperties>
</file>